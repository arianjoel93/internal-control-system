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8ef4f82cf14303" /><Relationship Type="http://schemas.openxmlformats.org/officeDocument/2006/relationships/extended-properties" Target="/docProps/app.xml" Id="R29d039f4d5154e55" /><Relationship Type="http://schemas.openxmlformats.org/officeDocument/2006/relationships/officeDocument" Target="/ppt/presentation.xml" Id="Rdf886551195d4b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fd3862232449f9"/>
  </p:sldMasterIdLst>
  <p:notesMasterIdLst>
    <p:notesMasterId xmlns:r="http://schemas.openxmlformats.org/officeDocument/2006/relationships" r:id="R15e762b763684756"/>
  </p:notesMasterIdLst>
  <p:sldIdLst>
    <p:sldId xmlns:r="http://schemas.openxmlformats.org/officeDocument/2006/relationships" id="256" r:id="R50d10df730a948bb"/>
    <p:sldId xmlns:r="http://schemas.openxmlformats.org/officeDocument/2006/relationships" id="257" r:id="R201d957c110744e5"/>
    <p:sldId xmlns:r="http://schemas.openxmlformats.org/officeDocument/2006/relationships" id="258" r:id="R06ea1650834d434e"/>
    <p:sldId xmlns:r="http://schemas.openxmlformats.org/officeDocument/2006/relationships" id="259" r:id="Rb5ac15400b2d4a92"/>
    <p:sldId xmlns:r="http://schemas.openxmlformats.org/officeDocument/2006/relationships" id="260" r:id="R013a9d86d8bb46a2"/>
    <p:sldId xmlns:r="http://schemas.openxmlformats.org/officeDocument/2006/relationships" id="261" r:id="Rc9f22e810e5f4fd0"/>
    <p:sldId xmlns:r="http://schemas.openxmlformats.org/officeDocument/2006/relationships" id="262" r:id="Re25fd275d0c84be2"/>
    <p:sldId xmlns:r="http://schemas.openxmlformats.org/officeDocument/2006/relationships" id="263" r:id="R4663d0df63e44e7c"/>
    <p:sldId xmlns:r="http://schemas.openxmlformats.org/officeDocument/2006/relationships" id="264" r:id="Rd0ea4b05a7bf4cf5"/>
    <p:sldId xmlns:r="http://schemas.openxmlformats.org/officeDocument/2006/relationships" id="265" r:id="R905e4598716246e2"/>
    <p:sldId xmlns:r="http://schemas.openxmlformats.org/officeDocument/2006/relationships" id="266" r:id="R4bd6259eea404ff9"/>
    <p:sldId xmlns:r="http://schemas.openxmlformats.org/officeDocument/2006/relationships" id="267" r:id="R2218f1ea646c4f55"/>
    <p:sldId xmlns:r="http://schemas.openxmlformats.org/officeDocument/2006/relationships" id="268" r:id="R4fafc17781a943e2"/>
    <p:sldId xmlns:r="http://schemas.openxmlformats.org/officeDocument/2006/relationships" id="269" r:id="Re6394f2a7955417c"/>
    <p:sldId xmlns:r="http://schemas.openxmlformats.org/officeDocument/2006/relationships" id="270" r:id="R9ee82847054f4dce"/>
    <p:sldId xmlns:r="http://schemas.openxmlformats.org/officeDocument/2006/relationships" id="271" r:id="R8af1b15b1d9b41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109bfe160f4009" /><Relationship Type="http://schemas.openxmlformats.org/officeDocument/2006/relationships/slideMaster" Target="/ppt/slideMasters/slideMaster1.xml" Id="R30fd3862232449f9" /><Relationship Type="http://schemas.openxmlformats.org/officeDocument/2006/relationships/notesMaster" Target="/ppt/notesMasters/notesMaster1.xml" Id="R15e762b763684756" /><Relationship Type="http://schemas.openxmlformats.org/officeDocument/2006/relationships/presProps" Target="/ppt/presProps.xml" Id="R6b7efaf5892a4442" /><Relationship Type="http://schemas.openxmlformats.org/officeDocument/2006/relationships/tableStyles" Target="/ppt/tableStyles.xml" Id="R026e3cac8f104fcb" /><Relationship Type="http://schemas.openxmlformats.org/officeDocument/2006/relationships/slide" Target="/ppt/slides/slide1.xml" Id="R50d10df730a948bb" /><Relationship Type="http://schemas.openxmlformats.org/officeDocument/2006/relationships/slide" Target="/ppt/slides/slide2.xml" Id="R201d957c110744e5" /><Relationship Type="http://schemas.openxmlformats.org/officeDocument/2006/relationships/slide" Target="/ppt/slides/slide3.xml" Id="R06ea1650834d434e" /><Relationship Type="http://schemas.openxmlformats.org/officeDocument/2006/relationships/slide" Target="/ppt/slides/slide4.xml" Id="Rb5ac15400b2d4a92" /><Relationship Type="http://schemas.openxmlformats.org/officeDocument/2006/relationships/slide" Target="/ppt/slides/slide5.xml" Id="R013a9d86d8bb46a2" /><Relationship Type="http://schemas.openxmlformats.org/officeDocument/2006/relationships/slide" Target="/ppt/slides/slide6.xml" Id="Rc9f22e810e5f4fd0" /><Relationship Type="http://schemas.openxmlformats.org/officeDocument/2006/relationships/slide" Target="/ppt/slides/slide7.xml" Id="Re25fd275d0c84be2" /><Relationship Type="http://schemas.openxmlformats.org/officeDocument/2006/relationships/slide" Target="/ppt/slides/slide8.xml" Id="R4663d0df63e44e7c" /><Relationship Type="http://schemas.openxmlformats.org/officeDocument/2006/relationships/slide" Target="/ppt/slides/slide9.xml" Id="Rd0ea4b05a7bf4cf5" /><Relationship Type="http://schemas.openxmlformats.org/officeDocument/2006/relationships/slide" Target="/ppt/slides/slide10.xml" Id="R905e4598716246e2" /><Relationship Type="http://schemas.openxmlformats.org/officeDocument/2006/relationships/slide" Target="/ppt/slides/slide11.xml" Id="R4bd6259eea404ff9" /><Relationship Type="http://schemas.openxmlformats.org/officeDocument/2006/relationships/slide" Target="/ppt/slides/slide12.xml" Id="R2218f1ea646c4f55" /><Relationship Type="http://schemas.openxmlformats.org/officeDocument/2006/relationships/slide" Target="/ppt/slides/slide13.xml" Id="R4fafc17781a943e2" /><Relationship Type="http://schemas.openxmlformats.org/officeDocument/2006/relationships/slide" Target="/ppt/slides/slide14.xml" Id="Re6394f2a7955417c" /><Relationship Type="http://schemas.openxmlformats.org/officeDocument/2006/relationships/slide" Target="/ppt/slides/slide15.xml" Id="R9ee82847054f4dce" /><Relationship Type="http://schemas.openxmlformats.org/officeDocument/2006/relationships/slide" Target="/ppt/slides/slide16.xml" Id="R8af1b15b1d9b41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1f5778f3be4f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6c035471284578" /><Relationship Type="http://schemas.openxmlformats.org/officeDocument/2006/relationships/notesMaster" Target="/ppt/notesMasters/notesMaster1.xml" Id="R3612723fd46842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f643b6114648a7" /><Relationship Type="http://schemas.openxmlformats.org/officeDocument/2006/relationships/notesMaster" Target="/ppt/notesMasters/notesMaster1.xml" Id="Ref4f60c8099949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2e39904e6b4a16" /><Relationship Type="http://schemas.openxmlformats.org/officeDocument/2006/relationships/notesMaster" Target="/ppt/notesMasters/notesMaster1.xml" Id="R3c50fff86bde43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30c50f32eb4658" /><Relationship Type="http://schemas.openxmlformats.org/officeDocument/2006/relationships/notesMaster" Target="/ppt/notesMasters/notesMaster1.xml" Id="Ra3babc153f3f4c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7225d76ce3403b" /><Relationship Type="http://schemas.openxmlformats.org/officeDocument/2006/relationships/notesMaster" Target="/ppt/notesMasters/notesMaster1.xml" Id="R1f36ff7e5fa945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7bed57b1a140d2" /><Relationship Type="http://schemas.openxmlformats.org/officeDocument/2006/relationships/notesMaster" Target="/ppt/notesMasters/notesMaster1.xml" Id="R0e3537c092954a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a665feb6a74518" /><Relationship Type="http://schemas.openxmlformats.org/officeDocument/2006/relationships/notesMaster" Target="/ppt/notesMasters/notesMaster1.xml" Id="R68759320182644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690bef7c1e45b3" /><Relationship Type="http://schemas.openxmlformats.org/officeDocument/2006/relationships/notesMaster" Target="/ppt/notesMasters/notesMaster1.xml" Id="R8728d07bc9bf42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d5cf72eb3e487b" /><Relationship Type="http://schemas.openxmlformats.org/officeDocument/2006/relationships/notesMaster" Target="/ppt/notesMasters/notesMaster1.xml" Id="R457f6fcee48a4b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dc4a7b37054bc3" /><Relationship Type="http://schemas.openxmlformats.org/officeDocument/2006/relationships/notesMaster" Target="/ppt/notesMasters/notesMaster1.xml" Id="R6436f67a90cc4f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92b1c95a4c4388" /><Relationship Type="http://schemas.openxmlformats.org/officeDocument/2006/relationships/notesMaster" Target="/ppt/notesMasters/notesMaster1.xml" Id="Rb5b1f6efa2214e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b200e39dca44e7" /><Relationship Type="http://schemas.openxmlformats.org/officeDocument/2006/relationships/notesMaster" Target="/ppt/notesMasters/notesMaster1.xml" Id="R94bb9ce1d15243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6a1f5d727143ea" /><Relationship Type="http://schemas.openxmlformats.org/officeDocument/2006/relationships/notesMaster" Target="/ppt/notesMasters/notesMaster1.xml" Id="Rc55f42e08d6149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f8c2f364ce4dd9" /><Relationship Type="http://schemas.openxmlformats.org/officeDocument/2006/relationships/notesMaster" Target="/ppt/notesMasters/notesMaster1.xml" Id="Racb5393a524a45e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10329f5c43476c" /><Relationship Type="http://schemas.openxmlformats.org/officeDocument/2006/relationships/notesMaster" Target="/ppt/notesMasters/notesMaster1.xml" Id="R9cd460b0c9ee46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7a16de4a3834d65" /><Relationship Type="http://schemas.openxmlformats.org/officeDocument/2006/relationships/notesMaster" Target="/ppt/notesMasters/notesMaster1.xml" Id="R2dc11580ffe149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Assets locales: public/tectronic-logo.png y public/module-hub-background.png.</a:t>
            </a:r>
          </a:p>
          <a:p xmlns:a="http://schemas.openxmlformats.org/drawingml/2006/main">
            <a:r>
              <a:t>Contexto revisado: README.md y src/features/admin/AdminPage.tsx.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Módulos visibles en src/features/admin/AdminPage.tsx y src/features/admin/settingsService.ts.</a:t>
            </a:r>
          </a:p>
          <a:p xmlns:a="http://schemas.openxmlformats.org/drawingml/2006/main">
            <a:r>
              <a:t>Rutas públicas en src/AppRoutes.tsx.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Hub y control de acceso revisados en src/features/admin/AdminPage.tsx.</a:t>
            </a:r>
          </a:p>
          <a:p xmlns:a="http://schemas.openxmlformats.org/drawingml/2006/main">
            <a:r>
              <a:t>Lista de módulos revisada en src/features/admin/settingsService.ts.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 describe stack React + Supabase y conector Odoo de lectura.</a:t>
            </a:r>
          </a:p>
          <a:p xmlns:a="http://schemas.openxmlformats.org/drawingml/2006/main">
            <a:r>
              <a:t>src/AppRoutes.tsx define rutas públicas; supabase/functions contiene conectores Odoo y FedEx.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Código revisado: src/features/admin/AdminPage.tsx, src/lib/types.ts y módulos específicos en src/features.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Código revisado: src/features/admin/AdminPage.tsx, src/lib/types.ts y módulos específicos en src/features.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Código revisado: src/features/admin/AdminPage.tsx, src/lib/types.ts y módulos específicos en src/features.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src/features/reports/ReportsDashboard.tsx y public/docs/reportes.html.</a:t>
            </a:r>
          </a:p>
          <a:p xmlns:a="http://schemas.openxmlformats.org/drawingml/2006/main">
            <a:r>
              <a:t>supabase/functions/odoo-sales-report y odoo-sales-forecast. Gráfica cualitativa basada en cobertura funcional del módulo.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src/features/marketing/MarketingDashboard.tsx y public/docs/marketing.html. Gráfica cualitativa de distribución funcional.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src/features/forms/FormsDashboard.tsx y src/features/forms/PublicFormPage.tsx.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src/features/quoting/QuoterDashboard.tsx y src/features/admin/CalculatorDashboard.tsx.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src/features/shipping/ShippingQuotesDashboard.tsx, shippingQuotesService.ts, shippingQuoteMath.ts.</a:t>
            </a:r>
          </a:p>
          <a:p xmlns:a="http://schemas.openxmlformats.org/drawingml/2006/main">
            <a:r>
              <a:t>supabase/functions/odoo-shipping-quote y shipping-quote.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src/features/admin/settingsService.ts, AdminPage.tsx y supabase/migrations/027_roles_scopes_and_audit.sql.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Síntesis inferida de los módulos revisados en src/features y supabase/migrations.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Gráfica cualitativa de impacto construida a partir de funcionalidades observadas en código; no representa medición histórica.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Síntesis ejecutiva basada en revisión del repositorio local C:/SOFTWARE/supports_tectronic.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331b6bb10c47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6afa820dc64e0f" /><Relationship Type="http://schemas.openxmlformats.org/officeDocument/2006/relationships/slideLayout" Target="/ppt/slideLayouts/slideLayout1.xml" Id="Rc36a923eeb1448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6a923eeb1448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d6e5c97ac42fd" /><Relationship Type="http://schemas.openxmlformats.org/officeDocument/2006/relationships/image" Target="/ppt/media/image.png" Id="Raa0df9c8563c434d" /><Relationship Type="http://schemas.openxmlformats.org/officeDocument/2006/relationships/image" Target="/ppt/media/image2.png" Id="Rb26cc03ad72348bb" /><Relationship Type="http://schemas.openxmlformats.org/officeDocument/2006/relationships/notesSlide" Target="/ppt/notesSlides/notesSlide1.xml" Id="Raa962d49d8c148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dcf5977a54bec" /><Relationship Type="http://schemas.openxmlformats.org/officeDocument/2006/relationships/image" Target="/ppt/media/image3.png" Id="R734f229622ad4b85" /><Relationship Type="http://schemas.openxmlformats.org/officeDocument/2006/relationships/notesSlide" Target="/ppt/notesSlides/notesSlide2.xml" Id="Rc60a040c4ab74f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c576cf73a46d2" /><Relationship Type="http://schemas.openxmlformats.org/officeDocument/2006/relationships/image" Target="/ppt/media/image4.png" Id="R93a08252d25b4980" /><Relationship Type="http://schemas.openxmlformats.org/officeDocument/2006/relationships/notesSlide" Target="/ppt/notesSlides/notesSlide3.xml" Id="Rac7d9fb2d25d4b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a8b423dc54d75" /><Relationship Type="http://schemas.openxmlformats.org/officeDocument/2006/relationships/image" Target="/ppt/media/image5.png" Id="R8e07066d565b4c51" /><Relationship Type="http://schemas.openxmlformats.org/officeDocument/2006/relationships/notesSlide" Target="/ppt/notesSlides/notesSlide4.xml" Id="R272d79988f5346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1bc2bf67e471c" /><Relationship Type="http://schemas.openxmlformats.org/officeDocument/2006/relationships/image" Target="/ppt/media/image6.png" Id="R368d26da18544737" /><Relationship Type="http://schemas.openxmlformats.org/officeDocument/2006/relationships/image" Target="/ppt/media/image7.png" Id="Re19ad09245df40f1" /><Relationship Type="http://schemas.openxmlformats.org/officeDocument/2006/relationships/notesSlide" Target="/ppt/notesSlides/notesSlide5.xml" Id="Re8197a64aa294d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6461ad1d14fff" /><Relationship Type="http://schemas.openxmlformats.org/officeDocument/2006/relationships/image" Target="/ppt/media/image8.png" Id="Rf2bb859952a34cc0" /><Relationship Type="http://schemas.openxmlformats.org/officeDocument/2006/relationships/image" Target="/ppt/media/image9.png" Id="R79412252dcd2496f" /><Relationship Type="http://schemas.openxmlformats.org/officeDocument/2006/relationships/notesSlide" Target="/ppt/notesSlides/notesSlide6.xml" Id="R60b2bd53fbee4d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8f6f1196b40d2" /><Relationship Type="http://schemas.openxmlformats.org/officeDocument/2006/relationships/image" Target="/ppt/media/image10.png" Id="R37e7364d6db4442c" /><Relationship Type="http://schemas.openxmlformats.org/officeDocument/2006/relationships/image" Target="/ppt/media/image11.png" Id="Re0d6c549b8fe41a6" /><Relationship Type="http://schemas.openxmlformats.org/officeDocument/2006/relationships/notesSlide" Target="/ppt/notesSlides/notesSlide7.xml" Id="Ra7b7733c315440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935778d604603" /><Relationship Type="http://schemas.openxmlformats.org/officeDocument/2006/relationships/image" Target="/ppt/media/image12.png" Id="Rd3b52eefeff84449" /><Relationship Type="http://schemas.openxmlformats.org/officeDocument/2006/relationships/chart" Target="/ppt/slides/charts/chart1.xml" Id="R9416ab5a2e05472e" /><Relationship Type="http://schemas.openxmlformats.org/officeDocument/2006/relationships/notesSlide" Target="/ppt/notesSlides/notesSlide8.xml" Id="Raf1af434bc8c4e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f3f6fa40c4dfd" /><Relationship Type="http://schemas.openxmlformats.org/officeDocument/2006/relationships/image" Target="/ppt/media/image13.png" Id="R8794e7cc81f347f9" /><Relationship Type="http://schemas.openxmlformats.org/officeDocument/2006/relationships/chart" Target="/ppt/slides/charts/chart2.xml" Id="R20df461fde544e6b" /><Relationship Type="http://schemas.openxmlformats.org/officeDocument/2006/relationships/notesSlide" Target="/ppt/notesSlides/notesSlide9.xml" Id="Raf1d76c8484546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adad5ec4b4b9f" /><Relationship Type="http://schemas.openxmlformats.org/officeDocument/2006/relationships/image" Target="/ppt/media/image14.png" Id="R43a635b947214da5" /><Relationship Type="http://schemas.openxmlformats.org/officeDocument/2006/relationships/notesSlide" Target="/ppt/notesSlides/notesSlide10.xml" Id="R72b560eb7f5a4d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6f799ea464eaf" /><Relationship Type="http://schemas.openxmlformats.org/officeDocument/2006/relationships/image" Target="/ppt/media/image15.png" Id="Rcdb2f4a0445341da" /><Relationship Type="http://schemas.openxmlformats.org/officeDocument/2006/relationships/image" Target="/ppt/media/image16.png" Id="Rd1fbfc5844974d32" /><Relationship Type="http://schemas.openxmlformats.org/officeDocument/2006/relationships/image" Target="/ppt/media/image17.png" Id="R165ae7ea01784b57" /><Relationship Type="http://schemas.openxmlformats.org/officeDocument/2006/relationships/notesSlide" Target="/ppt/notesSlides/notesSlide11.xml" Id="Rdef0c5d7a2304b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cf2d438e04102" /><Relationship Type="http://schemas.openxmlformats.org/officeDocument/2006/relationships/image" Target="/ppt/media/image18.png" Id="Rd900d3ee6e1d44f3" /><Relationship Type="http://schemas.openxmlformats.org/officeDocument/2006/relationships/notesSlide" Target="/ppt/notesSlides/notesSlide12.xml" Id="R7d9a23080c8e41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8efac0c4a473d" /><Relationship Type="http://schemas.openxmlformats.org/officeDocument/2006/relationships/image" Target="/ppt/media/image19.png" Id="Re07e90717424456c" /><Relationship Type="http://schemas.openxmlformats.org/officeDocument/2006/relationships/image" Target="/ppt/media/image20.png" Id="Rfab6659d4b194902" /><Relationship Type="http://schemas.openxmlformats.org/officeDocument/2006/relationships/notesSlide" Target="/ppt/notesSlides/notesSlide13.xml" Id="R2d8a526f0f5a4b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92fd26b8842b7" /><Relationship Type="http://schemas.openxmlformats.org/officeDocument/2006/relationships/image" Target="/ppt/media/image21.png" Id="R984dec749702492a" /><Relationship Type="http://schemas.openxmlformats.org/officeDocument/2006/relationships/notesSlide" Target="/ppt/notesSlides/notesSlide14.xml" Id="R9f03e07754d74c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81f590e064ffa" /><Relationship Type="http://schemas.openxmlformats.org/officeDocument/2006/relationships/image" Target="/ppt/media/image22.png" Id="Rf67aab23863444c8" /><Relationship Type="http://schemas.openxmlformats.org/officeDocument/2006/relationships/chart" Target="/ppt/slides/charts/chart3.xml" Id="Rd5bfd5df03ea48ec" /><Relationship Type="http://schemas.openxmlformats.org/officeDocument/2006/relationships/notesSlide" Target="/ppt/notesSlides/notesSlide15.xml" Id="Rcd0ba91a111e41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a4bc09855407a" /><Relationship Type="http://schemas.openxmlformats.org/officeDocument/2006/relationships/image" Target="/ppt/media/image23.png" Id="R8af047eb9fcd4a8b" /><Relationship Type="http://schemas.openxmlformats.org/officeDocument/2006/relationships/notesSlide" Target="/ppt/notesSlides/notesSlide16.xml" Id="R6369deb79715476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Cobertura analítica</c:v>
          </c:tx>
          <c:spPr>
            <a:solidFill xmlns:a="http://schemas.openxmlformats.org/drawingml/2006/main">
              <a:srgbClr val="2F80ED"/>
            </a:solidFill>
          </c:spPr>
          <c:cat>
            <c:strLit>
              <c:ptCount val="6"/>
              <c:pt idx="0">
                <c:v>Ventas</c:v>
              </c:pt>
              <c:pt idx="1">
                <c:v>Conversión</c:v>
              </c:pt>
              <c:pt idx="2">
                <c:v>Clientes</c:v>
              </c:pt>
              <c:pt idx="3">
                <c:v>Productos</c:v>
              </c:pt>
              <c:pt idx="4">
                <c:v>Compras</c:v>
              </c:pt>
              <c:pt idx="5">
                <c:v>Pronóstico</c:v>
              </c:pt>
            </c:strLit>
          </c:cat>
          <c:val>
            <c:numLit>
              <c:formatCode>General</c:formatCode>
              <c:ptCount val="6"/>
              <c:pt idx="0">
                <c:v>95</c:v>
              </c:pt>
              <c:pt idx="1">
                <c:v>88</c:v>
              </c:pt>
              <c:pt idx="2">
                <c:v>90</c:v>
              </c:pt>
              <c:pt idx="3">
                <c:v>84</c:v>
              </c:pt>
              <c:pt idx="4">
                <c:v>80</c:v>
              </c:pt>
              <c:pt idx="5">
                <c:v>76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1114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DD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B5563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Uso ejecutivo</c:v>
          </c:tx>
          <c:cat>
            <c:strLit>
              <c:ptCount val="4"/>
              <c:pt idx="0">
                <c:v>Segmentación</c:v>
              </c:pt>
              <c:pt idx="1">
                <c:v>Campañas</c:v>
              </c:pt>
              <c:pt idx="2">
                <c:v>CRM</c:v>
              </c:pt>
              <c:pt idx="3">
                <c:v>Alertas</c:v>
              </c:pt>
            </c:strLit>
          </c:cat>
          <c:val>
            <c:numLit>
              <c:formatCode>General</c:formatCode>
              <c:ptCount val="4"/>
              <c:pt idx="0">
                <c:v>30</c:v>
              </c:pt>
              <c:pt idx="1">
                <c:v>25</c:v>
              </c:pt>
              <c:pt idx="2">
                <c:v>25</c:v>
              </c:pt>
              <c:pt idx="3">
                <c:v>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01114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0"/>
        </c:dLbls>
      </c:doughnutChart>
    </c:plotArea>
    <c:legend>
      <c:legendPos val="b"/>
      <c:overlay val="0"/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Impacto esperado</c:v>
          </c:tx>
          <c:spPr>
            <a:solidFill xmlns:a="http://schemas.openxmlformats.org/drawingml/2006/main">
              <a:srgbClr val="2F7D73"/>
            </a:solidFill>
          </c:spPr>
          <c:cat>
            <c:strLit>
              <c:ptCount val="5"/>
              <c:pt idx="0">
                <c:v>Trazabilidad</c:v>
              </c:pt>
              <c:pt idx="1">
                <c:v>Velocidad</c:v>
              </c:pt>
              <c:pt idx="2">
                <c:v>Decisión</c:v>
              </c:pt>
              <c:pt idx="3">
                <c:v>Control</c:v>
              </c:pt>
              <c:pt idx="4">
                <c:v>Escalabilidad</c:v>
              </c:pt>
            </c:strLit>
          </c:cat>
          <c:val>
            <c:numLit>
              <c:formatCode>General</c:formatCode>
              <c:ptCount val="5"/>
              <c:pt idx="0">
                <c:v>92</c:v>
              </c:pt>
              <c:pt idx="1">
                <c:v>86</c:v>
              </c:pt>
              <c:pt idx="2">
                <c:v>90</c:v>
              </c:pt>
              <c:pt idx="3">
                <c:v>88</c:v>
              </c:pt>
              <c:pt idx="4">
                <c:v>84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1114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DD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1114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068"/>
                </a:solidFill>
              </a:defRPr>
            </a:pPr>
          </a:p>
        </c:txPr>
        <c:crossAx val="48650112"/>
        <c:crossBetween val="between"/>
        <c:majorUnit val="25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df9c8563c43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24709-E4D2-45AB-A0C3-9DEC28E4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FFFFFF">
                <a:alpha val="85098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cc03ad72348bb"/>
          <a:stretch xmlns:a="http://schemas.openxmlformats.org/drawingml/2006/main"/>
        </p:blipFill>
        <p:spPr>
          <a:xfrm xmlns:a="http://schemas.openxmlformats.org/drawingml/2006/main">
            <a:off x="885825" y="51435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E501D-414C-4F12-BB0D-DED77068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068"/>
                </a:solidFill>
              </a:defRPr>
            </a:pPr>
            <a:r>
              <a:rPr sz="1800" b="0">
                <a:solidFill>
                  <a:srgbClr val="5B6068"/>
                </a:solidFill>
              </a:rPr>
              <a:t>Sistema interno de trabajo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8D654-8DFE-4F2E-8E89-B1C0F530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866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114"/>
                </a:solidFill>
              </a:defRPr>
            </a:pPr>
            <a:r>
              <a:rPr sz="4350" b="1">
                <a:solidFill>
                  <a:srgbClr val="101114"/>
                </a:solidFill>
              </a:rPr>
              <a:t>Presentación integral de la aplicación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24943-8AEA-4B80-B3C1-524FFEA2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E252B"/>
                </a:solidFill>
              </a:defRPr>
            </a:pPr>
            <a:r>
              <a:rPr sz="1800" b="0">
                <a:solidFill>
                  <a:srgbClr val="1E252B"/>
                </a:solidFill>
              </a:rPr>
              <a:t>Centralización operativa, inteligencia comercial y automatización de procesos para dirección.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5CF79-A893-4BE7-B0CB-F153DC96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9B2E9-0951-4442-85C0-58CBA39F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4"/>
                </a:solidFill>
              </a:defRPr>
            </a:pPr>
            <a:r>
              <a:rPr sz="1650" b="0">
                <a:solidFill>
                  <a:srgbClr val="101114"/>
                </a:solidFill>
              </a:rPr>
              <a:t>Presenta: Joel Trincado</a:t>
            </a:r>
          </a:p>
          <a:p xmlns:a="http://schemas.openxmlformats.org/drawingml/2006/main">
            <a:pPr algn="l">
              <a:defRPr sz="1650" b="0">
                <a:solidFill>
                  <a:srgbClr val="101114"/>
                </a:solidFill>
              </a:defRPr>
            </a:pPr>
            <a:r>
              <a:rPr sz="1650" b="0">
                <a:solidFill>
                  <a:srgbClr val="101114"/>
                </a:solidFill>
              </a:rPr>
              <a:t>Departamento de Sistemas</a:t>
            </a:r>
          </a:p>
          <a:p xmlns:a="http://schemas.openxmlformats.org/drawingml/2006/main">
            <a:pPr algn="l">
              <a:defRPr sz="1650" b="0">
                <a:solidFill>
                  <a:srgbClr val="101114"/>
                </a:solidFill>
              </a:defRPr>
            </a:pPr>
            <a:r>
              <a:rPr sz="1650" b="0">
                <a:solidFill>
                  <a:srgbClr val="101114"/>
                </a:solidFill>
              </a:rPr>
              <a:t>Corporación Tectronic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FB000-6E11-407D-9FDC-E760202C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068"/>
                </a:solidFill>
              </a:defRPr>
            </a:pPr>
            <a:r>
              <a:rPr sz="975" b="0">
                <a:solidFill>
                  <a:srgbClr val="5B606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47665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B451A1-B23D-4440-81A1-BAB2483F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068"/>
                </a:solidFill>
              </a:defRPr>
            </a:pPr>
            <a:r>
              <a:rPr sz="975" b="1">
                <a:solidFill>
                  <a:srgbClr val="5B6068"/>
                </a:solidFill>
              </a:rPr>
              <a:t>CORPORACIÓN TECTRONIC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46F3A-66BD-4BDA-BEC8-2DB79C0A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La aplicación convierte operación dispersa en una plataforma de control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f229622ad4b85"/>
          <a:stretch xmlns:a="http://schemas.openxmlformats.org/drawingml/2006/main"/>
        </p:blipFill>
        <p:spPr>
          <a:xfrm xmlns:a="http://schemas.openxmlformats.org/drawingml/2006/main">
            <a:off x="10858500" y="3048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69A73-C532-4BA8-8930-AD3F0DA6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7D62F-591B-424F-9BA5-92A7EE0F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Mensaje ejecutivo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6306B-C1F4-4061-A38D-7FBC6546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4"/>
                </a:solidFill>
              </a:defRPr>
            </a:pPr>
            <a:r>
              <a:rPr sz="1650" b="0">
                <a:solidFill>
                  <a:srgbClr val="101114"/>
                </a:solidFill>
              </a:rPr>
              <a:t>El sistema concentra soporte, inventario, pólizas, reportes, marketing, formularios, cotización, envíos, cálculo comercial y administración de permisos en un solo entorno con datos trazables.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BEF02-009E-4AD4-93B3-1D931F09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333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8A18D-D55A-4462-9BDA-3396E222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80ED"/>
                </a:solidFill>
              </a:defRPr>
            </a:pPr>
            <a:r>
              <a:rPr sz="2250" b="1">
                <a:solidFill>
                  <a:srgbClr val="2F80ED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79C24-B51F-45B7-9D7E-7555F85E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8"/>
                </a:solidFill>
              </a:defRPr>
            </a:pPr>
            <a:r>
              <a:rPr sz="1200" b="0">
                <a:solidFill>
                  <a:srgbClr val="5B6068"/>
                </a:solidFill>
              </a:rPr>
              <a:t>módulos principales centralizados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BB2E3-0FE9-4316-9C2F-F86AB123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71850"/>
            <a:ext cx="3333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C8CDB-D376-45C6-BA21-12582612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623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7D73"/>
                </a:solidFill>
              </a:defRPr>
            </a:pPr>
            <a:r>
              <a:rPr sz="2250" b="1">
                <a:solidFill>
                  <a:srgbClr val="2F7D73"/>
                </a:solidFill>
              </a:rPr>
              <a:t>Odoo + FedEx + Supabase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A24D7-5635-4EBF-94E2-13646DB5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624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8"/>
                </a:solidFill>
              </a:defRPr>
            </a:pPr>
            <a:r>
              <a:rPr sz="1200" b="0">
                <a:solidFill>
                  <a:srgbClr val="5B6068"/>
                </a:solidFill>
              </a:rPr>
              <a:t>integraciones operativas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B2B57-0697-43CD-ABE9-333063F6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71850"/>
            <a:ext cx="3810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6FB99E-0258-48C2-88DA-D9561A53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623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66A4D"/>
                </a:solidFill>
              </a:defRPr>
            </a:pPr>
            <a:r>
              <a:rPr sz="2250" b="1">
                <a:solidFill>
                  <a:srgbClr val="B66A4D"/>
                </a:solidFill>
              </a:rPr>
              <a:t>Consulta + Formularios + Reportes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9E12B-A747-49C9-9C37-FEB10A08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62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8"/>
                </a:solidFill>
              </a:defRPr>
            </a:pPr>
            <a:r>
              <a:rPr sz="1200" b="0">
                <a:solidFill>
                  <a:srgbClr val="5B6068"/>
                </a:solidFill>
              </a:rPr>
              <a:t>puertas de entrada públicas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628695-7268-4BFD-898C-680A4498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rPr sz="1875" b="1">
                <a:solidFill>
                  <a:srgbClr val="101114"/>
                </a:solidFill>
              </a:rPr>
              <a:t>Resultado para dirección: visibilidad transversal, menor retrabajo y una base única para decidir qué atender, vender, comprar o automatizar.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9F14A4-237B-4D30-A8B0-EBD15605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068"/>
                </a:solidFill>
              </a:defRPr>
            </a:pPr>
            <a:r>
              <a:rPr sz="975" b="0">
                <a:solidFill>
                  <a:srgbClr val="5B606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583801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FE989F-F205-473A-9612-09A5275F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068"/>
                </a:solidFill>
              </a:defRPr>
            </a:pPr>
            <a:r>
              <a:rPr sz="975" b="1">
                <a:solidFill>
                  <a:srgbClr val="5B6068"/>
                </a:solidFill>
              </a:rPr>
              <a:t>CORPORACIÓN TECTRONIC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0B37D-5A2D-4173-A920-24518053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El mapa funcional cubre operación, comercial, logística y gobierno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08252d25b4980"/>
          <a:stretch xmlns:a="http://schemas.openxmlformats.org/drawingml/2006/main"/>
        </p:blipFill>
        <p:spPr>
          <a:xfrm xmlns:a="http://schemas.openxmlformats.org/drawingml/2006/main">
            <a:off x="10858500" y="3048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80285-752C-41F7-9A7A-851C34E4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8ADED-DE9E-443C-A37A-07D2C3A3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Operación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39859-C9E2-412F-AAD1-D82A7919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190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6DE88-AC17-4A39-A6F1-16ACCB1E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Soportes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6C4A9-01C2-4C93-A3BF-CD6F0E9B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190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8316D-C9C7-4F70-9F57-3F9AE5F7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765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Inventario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8EABF-B934-4357-BF74-CB04859C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190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ACFA6-A222-4AFF-8EA7-4F2407FC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Pólizas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2F6C1-88E4-4221-9400-BA5CAECF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190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75E22-E5E2-4904-9B2D-9255E3D8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481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Formularios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71D81-D90F-4482-9176-C1B1C60B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526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73"/>
                </a:solidFill>
              </a:defRPr>
            </a:pPr>
            <a:r>
              <a:rPr sz="1800" b="1">
                <a:solidFill>
                  <a:srgbClr val="2F7D73"/>
                </a:solidFill>
              </a:rPr>
              <a:t>Comercial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67F69-70A3-4579-BD7B-58DAB955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2190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3F900-C0EA-4A2D-913D-B87C79F5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907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Reportes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E1B76-E5CD-4EBA-BCAD-61DF92BA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52750"/>
            <a:ext cx="2190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B679E3-7F82-47D2-BBF7-8C5A4CCA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765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Marketing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D39268-EE5C-4DCB-A2FC-F8576FBC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38550"/>
            <a:ext cx="2190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C4F57F-FFD7-4CD3-8EDB-EAF770C8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623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Cotizador IMEBA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D39BA7-3F54-4511-9FA2-2064FE41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24350"/>
            <a:ext cx="2190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6F31FB-994C-4E59-905F-D1E620B4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481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Calculadora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537A9-95E6-4022-8BEF-A2BB2A5A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526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66A4D"/>
                </a:solidFill>
              </a:defRPr>
            </a:pPr>
            <a:r>
              <a:rPr sz="1800" b="1">
                <a:solidFill>
                  <a:srgbClr val="B66A4D"/>
                </a:solidFill>
              </a:rPr>
              <a:t>Logística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5B2656-5B7A-45F9-B59E-C6980F01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66950"/>
            <a:ext cx="2190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6295EC-1FB7-49ED-94FA-F4FE674A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907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Cotizador de Envíos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B4A1DF-491D-4FBE-BB89-9E3B6CCB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2190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AB9F33-0BD4-4632-865F-BEB3D49B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765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Odoo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0017D1-E373-451F-A39B-D0B30E9F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38550"/>
            <a:ext cx="2190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280B46-A0FF-4FDC-9A80-1049E7EE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FedEx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6043FF-4498-4E94-9760-765D38AD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526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52B"/>
                </a:solidFill>
              </a:defRPr>
            </a:pPr>
            <a:r>
              <a:rPr sz="1800" b="1">
                <a:solidFill>
                  <a:srgbClr val="1E252B"/>
                </a:solidFill>
              </a:rPr>
              <a:t>Gobierno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5F5412-236F-45C5-83A8-F43F6756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66950"/>
            <a:ext cx="2190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D2DEA1-415A-4183-B098-C7A014B5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907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Ajustes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54E37B-8065-4529-AC13-23216711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52750"/>
            <a:ext cx="2190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EA373C-744A-4E49-B228-C2408FD6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765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Roles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230E7F-8DC2-4D34-B0C2-ABD63FAE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38550"/>
            <a:ext cx="2190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93CDE6-79E5-4874-83E5-47422D5A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623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Permisos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38D3FD-F6E4-4864-B8BB-AFA32DC7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24350"/>
            <a:ext cx="2190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138F64-2CAE-46D7-9039-8309D1AD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481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Alcance: propio/global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122ECD-F0A7-4DD1-9503-C5FB11BD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La dirección no ve módulos aislados: ve una cadena donde los datos operativos alimentan decisiones comerciales, logística y administración.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E3FE7D-7559-4548-AE02-054CDA7E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068"/>
                </a:solidFill>
              </a:defRPr>
            </a:pPr>
            <a:r>
              <a:rPr sz="975" b="0">
                <a:solidFill>
                  <a:srgbClr val="5B606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189563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8A8B15-4416-417D-B69D-707C741B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068"/>
                </a:solidFill>
              </a:defRPr>
            </a:pPr>
            <a:r>
              <a:rPr sz="975" b="1">
                <a:solidFill>
                  <a:srgbClr val="5B6068"/>
                </a:solidFill>
              </a:rPr>
              <a:t>CORPORACIÓN TECTRONIC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D3062-CA1C-4BC0-B371-9C858D9C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Arquitectura: una aplicación React con datos seguros y conectores especializados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07066d565b4c51"/>
          <a:stretch xmlns:a="http://schemas.openxmlformats.org/drawingml/2006/main"/>
        </p:blipFill>
        <p:spPr>
          <a:xfrm xmlns:a="http://schemas.openxmlformats.org/drawingml/2006/main">
            <a:off x="10858500" y="3048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C940C-E60C-4051-874C-34275285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C201B-FC9F-4E8B-A8CE-D2DEA889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63F1A-74D5-47DA-B597-674020AE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Usuarios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C7D37-A1E1-4131-864F-C7FE8585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908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25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BC149-F8B1-4EA3-B6E8-43D53493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813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React + Vite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980AB-2C5C-42DF-9BBB-19BB36FC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81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D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1EA124-15CF-4F48-878A-89FAA20A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Supabase</a:t>
            </a:r>
          </a:p>
          <a:p xmlns:a="http://schemas.openxmlformats.org/drawingml/2006/main">
            <a:pPr algn="ctr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Auth, Postgres, RLS, Storage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F214F-F8A5-4224-B8CF-7FD252A2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66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6A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BB683-E0CE-49F9-A59C-5DE3B93F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574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Odoo</a:t>
            </a:r>
          </a:p>
          <a:p xmlns:a="http://schemas.openxmlformats.org/drawingml/2006/main">
            <a:pPr algn="ctr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ventas, compras, CRM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44487-71B6-4AA7-A5AC-D631B837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90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6A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FE1FF-B8FE-42CE-A798-FAAE3A09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814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FedEx</a:t>
            </a:r>
          </a:p>
          <a:p xmlns:a="http://schemas.openxmlformats.org/drawingml/2006/main">
            <a:pPr algn="ctr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Rate + Transit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17C1A3-5033-43DD-8BF9-E7A9A59A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289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D5D3E9-DE03-4822-989E-11B26823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3534AD-B13A-4310-827D-5E919827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1940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BFFBD2-E345-4C43-85E0-5C6845A4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B20A9-42EE-47EA-9B3E-64EE208F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5755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47098D-2575-4809-8A1C-5FF792C4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5755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94E561-68FA-46CA-9E49-EACC489E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95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2BB048-3D01-4066-9F86-F9E9A6EE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19650"/>
            <a:ext cx="912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Autenticación y permisos por módulo desde Supabase.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713F5B-DE6C-4927-A7F8-80A1FFFA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00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49E640-4915-4D21-BD16-901B88E1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24450"/>
            <a:ext cx="912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Lectura de Odoo mediante Edge Functions de solo consulta.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2B6B30-A0B3-430C-9BB6-83872501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05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981043-0854-4C27-BC91-4FD470F2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29250"/>
            <a:ext cx="912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Cotización logística con configuración segura de FedEx.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431C13-E8BE-4EB5-A336-0EC9A095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D4A1CD-6AE8-4A05-B964-A68E7C46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34050"/>
            <a:ext cx="912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Rutas públicas para consulta de soporte, formularios y reportes compartidos.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739070-1205-44E1-8FDC-DE7C835F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068"/>
                </a:solidFill>
              </a:defRPr>
            </a:pPr>
            <a:r>
              <a:rPr sz="975" b="0">
                <a:solidFill>
                  <a:srgbClr val="5B606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70783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352901-1C6E-424E-A396-B553CC33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068"/>
                </a:solidFill>
              </a:defRPr>
            </a:pPr>
            <a:r>
              <a:rPr sz="975" b="1">
                <a:solidFill>
                  <a:srgbClr val="5B6068"/>
                </a:solidFill>
              </a:rPr>
              <a:t>MÓDULO OPERATIVO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BA4A9-A1EE-4995-B242-6FD7DFD5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Soportes transforma tickets en trazabilidad visible para cliente y equipo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d26da18544737"/>
          <a:stretch xmlns:a="http://schemas.openxmlformats.org/drawingml/2006/main"/>
        </p:blipFill>
        <p:spPr>
          <a:xfrm xmlns:a="http://schemas.openxmlformats.org/drawingml/2006/main">
            <a:off x="10858500" y="3048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8EAFE-7AD7-4C68-AF97-76BD9FAF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3640E-6B9A-459F-8481-16FFAA77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429000" cy="36957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ad09245df40f1"/>
          <a:stretch xmlns:a="http://schemas.openxmlformats.org/drawingml/2006/main"/>
        </p:blipFill>
        <p:spPr>
          <a:xfrm xmlns:a="http://schemas.openxmlformats.org/drawingml/2006/main">
            <a:off x="1400175" y="192405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D8894-D73A-44FB-AD9D-12E46F05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Menos llamadas de estatus y más trazabilidad.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E3895-30AA-48E2-A387-9103BE67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8"/>
                </a:solidFill>
              </a:defRPr>
            </a:pPr>
            <a:r>
              <a:rPr sz="1125" b="0">
                <a:solidFill>
                  <a:srgbClr val="5B6068"/>
                </a:solidFill>
              </a:rPr>
              <a:t>Impacto esperado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5990C-E6C4-4AB3-A308-DF6C2D02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764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Centraliza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41EC8-6FD0-4BDB-B425-BCF0606A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80E40-A76E-4FE0-8FD8-38DEEDDF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14550"/>
            <a:ext cx="607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Registro de soportes técnicos y programaciones con folio, cliente, serie, modelo, agente y evidencia.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3483D-DB1D-46EA-ABDD-145B30F4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33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2A535-0404-42B6-B915-A5B13E20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57450"/>
            <a:ext cx="607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Historial de eventos con estado actual, diagnóstico, reparación, cierre, notas y paquetería.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BABEE-2370-4636-A38C-CEF01DDB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76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3D070-F5DC-436D-855C-977722B4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00350"/>
            <a:ext cx="607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Consulta pública por folio o número de serie sin pedir intervención interna.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1945E-34AB-4B86-BD7F-C5D014C4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A7181-83B8-4EA1-9E66-6961D99B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607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Adjuntos: imágenes y PDF de cotización de reparación.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CE339-D833-4CB0-BDCC-577C6D48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62450"/>
            <a:ext cx="2933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746E75-1A4B-4C61-87D6-7C44461F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72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</a:defRPr>
            </a:pPr>
            <a:r>
              <a:rPr sz="1650" b="1">
                <a:solidFill>
                  <a:srgbClr val="101114"/>
                </a:solidFill>
              </a:rPr>
              <a:t>Optimiza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66C787-BDF7-4EFE-A934-F0ED4338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14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8"/>
                </a:solidFill>
              </a:defRPr>
            </a:pPr>
            <a:r>
              <a:rPr sz="1275" b="0">
                <a:solidFill>
                  <a:srgbClr val="5B6068"/>
                </a:solidFill>
              </a:rPr>
              <a:t>Búsqueda, seguimiento y consulta pública del caso.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EF2133-1A5A-433D-8882-9148EE0E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62450"/>
            <a:ext cx="2933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0E325A-D62B-4524-9FFC-9FBC46A4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72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</a:defRPr>
            </a:pPr>
            <a:r>
              <a:rPr sz="1650" b="1">
                <a:solidFill>
                  <a:srgbClr val="101114"/>
                </a:solidFill>
              </a:rPr>
              <a:t>Automatiza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80DF6B-2313-4649-AE2D-BEF7956E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8"/>
                </a:solidFill>
              </a:defRPr>
            </a:pPr>
            <a:r>
              <a:rPr sz="1275" b="0">
                <a:solidFill>
                  <a:srgbClr val="5B6068"/>
                </a:solidFill>
              </a:rPr>
              <a:t>Historial por movimiento, folios públicos y estados por catálogo.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1EDA48-5F1F-4E13-AF8D-073CEE05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068"/>
                </a:solidFill>
              </a:defRPr>
            </a:pPr>
            <a:r>
              <a:rPr sz="975" b="0">
                <a:solidFill>
                  <a:srgbClr val="5B606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14908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E7E485-B5D1-4946-8E48-5B5A3A86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068"/>
                </a:solidFill>
              </a:defRPr>
            </a:pPr>
            <a:r>
              <a:rPr sz="975" b="1">
                <a:solidFill>
                  <a:srgbClr val="5B6068"/>
                </a:solidFill>
              </a:rPr>
              <a:t>MÓDULO OPERATIVO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233B7-3B20-4309-B8FB-8AF9C5F1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Inventario da control de existencias, almacenes y movimientos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b859952a34cc0"/>
          <a:stretch xmlns:a="http://schemas.openxmlformats.org/drawingml/2006/main"/>
        </p:blipFill>
        <p:spPr>
          <a:xfrm xmlns:a="http://schemas.openxmlformats.org/drawingml/2006/main">
            <a:off x="10858500" y="3048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1B0BA-276F-4AAA-BFBA-3D5635B2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396D6-3227-4EE6-B3A0-B1D4BF5B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429000" cy="36957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12252dcd2496f"/>
          <a:stretch xmlns:a="http://schemas.openxmlformats.org/drawingml/2006/main"/>
        </p:blipFill>
        <p:spPr>
          <a:xfrm xmlns:a="http://schemas.openxmlformats.org/drawingml/2006/main">
            <a:off x="1400175" y="192405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0357D-8C51-4E2C-9F7A-8EA398F2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D73"/>
                </a:solidFill>
              </a:defRPr>
            </a:pPr>
            <a:r>
              <a:rPr sz="1650" b="1">
                <a:solidFill>
                  <a:srgbClr val="2F7D73"/>
                </a:solidFill>
              </a:rPr>
              <a:t>Menos capturas manuales y menor riesgo de faltantes.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D882E-3F2A-441A-9764-22B70013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8"/>
                </a:solidFill>
              </a:defRPr>
            </a:pPr>
            <a:r>
              <a:rPr sz="1125" b="0">
                <a:solidFill>
                  <a:srgbClr val="5B6068"/>
                </a:solidFill>
              </a:rPr>
              <a:t>Impacto esperado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26393-5802-4922-8921-C7C5B570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764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73"/>
                </a:solidFill>
              </a:defRPr>
            </a:pPr>
            <a:r>
              <a:rPr sz="1800" b="1">
                <a:solidFill>
                  <a:srgbClr val="2F7D73"/>
                </a:solidFill>
              </a:rPr>
              <a:t>Centraliza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F8CC3-59CE-4933-A4A8-91595DBC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73"/>
          </a:solidFill>
          <a:ln xmlns:a="http://schemas.openxmlformats.org/drawingml/2006/main" w="0">
            <a:solidFill>
              <a:srgbClr val="2F7D7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2F090-DD92-4833-8436-1EA8DF54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14550"/>
            <a:ext cx="607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Productos con categoría, marca, unidad, mínimos, requeridos, código de barras y condición.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70C50-C5B2-468C-A1DE-E7A05C4E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33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73"/>
          </a:solidFill>
          <a:ln xmlns:a="http://schemas.openxmlformats.org/drawingml/2006/main" w="0">
            <a:solidFill>
              <a:srgbClr val="2F7D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92C76-5716-4E7A-87AF-F3E9A881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57450"/>
            <a:ext cx="607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Almacenes activos con ubicación y resumen de stock.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5A076-48D0-4B4A-91D0-D73963E0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76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73"/>
          </a:solidFill>
          <a:ln xmlns:a="http://schemas.openxmlformats.org/drawingml/2006/main" w="0">
            <a:solidFill>
              <a:srgbClr val="2F7D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276FF-2BE5-4A35-A434-D21AA635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00350"/>
            <a:ext cx="607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Movimientos por lote: entrada, salida, ajuste y transferencia.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FAC18-CFAA-4FB7-A967-CDE97A3B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73"/>
          </a:solidFill>
          <a:ln xmlns:a="http://schemas.openxmlformats.org/drawingml/2006/main" w="0">
            <a:solidFill>
              <a:srgbClr val="2F7D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9600E-94BE-4E90-8E53-670D90E3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607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Importación mediante plantilla CSV para carga masiva.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B84C6-C1C7-4E8D-8AC2-B686517A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62450"/>
            <a:ext cx="2933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15F28D-DA29-4A78-9063-FDC10DD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72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</a:defRPr>
            </a:pPr>
            <a:r>
              <a:rPr sz="1650" b="1">
                <a:solidFill>
                  <a:srgbClr val="101114"/>
                </a:solidFill>
              </a:rPr>
              <a:t>Optimiza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7D1BC0-1D76-4ADD-9DFE-25B07673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14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8"/>
                </a:solidFill>
              </a:defRPr>
            </a:pPr>
            <a:r>
              <a:rPr sz="1275" b="0">
                <a:solidFill>
                  <a:srgbClr val="5B6068"/>
                </a:solidFill>
              </a:rPr>
              <a:t>Control de stock y ubicación por almacén.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EB831-588B-48E7-9C8B-F8C0E3AA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62450"/>
            <a:ext cx="2933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667167-E944-461A-8A08-CC5213BE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72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</a:defRPr>
            </a:pPr>
            <a:r>
              <a:rPr sz="1650" b="1">
                <a:solidFill>
                  <a:srgbClr val="101114"/>
                </a:solidFill>
              </a:rPr>
              <a:t>Automatiza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27CB2B-3518-45DA-AD71-B0D636AC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8"/>
                </a:solidFill>
              </a:defRPr>
            </a:pPr>
            <a:r>
              <a:rPr sz="1275" b="0">
                <a:solidFill>
                  <a:srgbClr val="5B6068"/>
                </a:solidFill>
              </a:rPr>
              <a:t>Lotes de movimientos e importación de productos.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F4E0F8-D0BF-4108-A7F4-1AC7A090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068"/>
                </a:solidFill>
              </a:defRPr>
            </a:pPr>
            <a:r>
              <a:rPr sz="975" b="0">
                <a:solidFill>
                  <a:srgbClr val="5B606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106558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22A6BE-EF43-4EF5-AB50-451009F3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068"/>
                </a:solidFill>
              </a:defRPr>
            </a:pPr>
            <a:r>
              <a:rPr sz="975" b="1">
                <a:solidFill>
                  <a:srgbClr val="5B6068"/>
                </a:solidFill>
              </a:rPr>
              <a:t>MÓDULO OPERATIVO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88350-C0CE-4158-9BDF-E41840D1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Pólizas convierte horas contratadas en saldo operativo controlado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e7364d6db4442c"/>
          <a:stretch xmlns:a="http://schemas.openxmlformats.org/drawingml/2006/main"/>
        </p:blipFill>
        <p:spPr>
          <a:xfrm xmlns:a="http://schemas.openxmlformats.org/drawingml/2006/main">
            <a:off x="10858500" y="3048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539D6-1689-4ECC-AD6E-C51F2DE7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89B8A-78BB-4EC4-BD5B-1EC47841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429000" cy="36957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6c549b8fe41a6"/>
          <a:stretch xmlns:a="http://schemas.openxmlformats.org/drawingml/2006/main"/>
        </p:blipFill>
        <p:spPr>
          <a:xfrm xmlns:a="http://schemas.openxmlformats.org/drawingml/2006/main">
            <a:off x="1400175" y="192405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252FD-C8F7-422C-81B0-CDB43CC9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6A4D"/>
                </a:solidFill>
              </a:defRPr>
            </a:pPr>
            <a:r>
              <a:rPr sz="1650" b="1">
                <a:solidFill>
                  <a:srgbClr val="B66A4D"/>
                </a:solidFill>
              </a:rPr>
              <a:t>Mayor control de rentabilidad por póliza.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8C561-CACA-4315-B0C6-B4895AF0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8"/>
                </a:solidFill>
              </a:defRPr>
            </a:pPr>
            <a:r>
              <a:rPr sz="1125" b="0">
                <a:solidFill>
                  <a:srgbClr val="5B6068"/>
                </a:solidFill>
              </a:rPr>
              <a:t>Impacto esperado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E541D-77F6-4A3C-B9BC-E9C194A0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764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66A4D"/>
                </a:solidFill>
              </a:defRPr>
            </a:pPr>
            <a:r>
              <a:rPr sz="1800" b="1">
                <a:solidFill>
                  <a:srgbClr val="B66A4D"/>
                </a:solidFill>
              </a:rPr>
              <a:t>Centraliza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90995-E741-4787-BC72-2BB3D6AB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4D"/>
          </a:solidFill>
          <a:ln xmlns:a="http://schemas.openxmlformats.org/drawingml/2006/main" w="0">
            <a:solidFill>
              <a:srgbClr val="B66A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5373F-FD10-4F97-BD85-C90B0003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14550"/>
            <a:ext cx="607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Clientes con pólizas por horas, horas adicionales y datos fiscales/comerciales.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EF2CA-1C04-46B2-A7C8-A7C4073E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33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4D"/>
          </a:solidFill>
          <a:ln xmlns:a="http://schemas.openxmlformats.org/drawingml/2006/main" w="0">
            <a:solidFill>
              <a:srgbClr val="B66A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475EF-3E7D-4760-BBAA-23C89EAF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57450"/>
            <a:ext cx="607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Servicios registrados por tipo, inicio, fin, duración y notas.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C3701-48B8-4627-B18C-5A877D59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76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4D"/>
          </a:solidFill>
          <a:ln xmlns:a="http://schemas.openxmlformats.org/drawingml/2006/main" w="0">
            <a:solidFill>
              <a:srgbClr val="B66A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9F5C4-2E61-48CB-9EB1-C160B0A8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00350"/>
            <a:ext cx="607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Cálculo de horas consumidas, restantes y total disponible.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1D61C-80E7-4043-8C79-31E331A2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4D"/>
          </a:solidFill>
          <a:ln xmlns:a="http://schemas.openxmlformats.org/drawingml/2006/main" w="0">
            <a:solidFill>
              <a:srgbClr val="B66A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182B0-975B-4AC2-926E-91411BB7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607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Archivo temporal y restauración de clientes para evitar pérdidas accidentales.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66559D-35DC-4F30-A112-E837164E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62450"/>
            <a:ext cx="2933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BC721E-5D93-4411-AF38-E4EADF07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72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</a:defRPr>
            </a:pPr>
            <a:r>
              <a:rPr sz="1650" b="1">
                <a:solidFill>
                  <a:srgbClr val="101114"/>
                </a:solidFill>
              </a:rPr>
              <a:t>Optimiza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193E83-62D8-453B-89F7-256E7E1C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14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8"/>
                </a:solidFill>
              </a:defRPr>
            </a:pPr>
            <a:r>
              <a:rPr sz="1275" b="0">
                <a:solidFill>
                  <a:srgbClr val="5B6068"/>
                </a:solidFill>
              </a:rPr>
              <a:t>Consumo y disponibilidad de horas por cliente.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973D29-CF71-475D-BA52-5ED71B39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62450"/>
            <a:ext cx="2933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AAD555-3E63-41A7-9E74-31FEC8A2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72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</a:defRPr>
            </a:pPr>
            <a:r>
              <a:rPr sz="1650" b="1">
                <a:solidFill>
                  <a:srgbClr val="101114"/>
                </a:solidFill>
              </a:rPr>
              <a:t>Automatiza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68380E-08AB-4260-A8A7-041A2265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8"/>
                </a:solidFill>
              </a:defRPr>
            </a:pPr>
            <a:r>
              <a:rPr sz="1275" b="0">
                <a:solidFill>
                  <a:srgbClr val="5B6068"/>
                </a:solidFill>
              </a:rPr>
              <a:t>Devolución de horas al borrar servicios y archivo por 30 días.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5FD99F-C744-41C6-B286-6540DDBF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068"/>
                </a:solidFill>
              </a:defRPr>
            </a:pPr>
            <a:r>
              <a:rPr sz="975" b="0">
                <a:solidFill>
                  <a:srgbClr val="5B606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083902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F4193-F2F1-4D6B-B91D-28129F45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068"/>
                </a:solidFill>
              </a:defRPr>
            </a:pPr>
            <a:r>
              <a:rPr sz="975" b="1">
                <a:solidFill>
                  <a:srgbClr val="5B6068"/>
                </a:solidFill>
              </a:rPr>
              <a:t>CORPORACIÓN TECTRONIC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5AA69-5316-4BD2-871E-EC20845A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Reportes y Compras convierten Odoo en lectura ejecutiva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52eefeff84449"/>
          <a:stretch xmlns:a="http://schemas.openxmlformats.org/drawingml/2006/main"/>
        </p:blipFill>
        <p:spPr>
          <a:xfrm xmlns:a="http://schemas.openxmlformats.org/drawingml/2006/main">
            <a:off x="10858500" y="3048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36FDE-B7C0-463D-92BE-389B29DB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16281-35CF-4BED-8D2D-96732948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rPr sz="1575" b="0">
                <a:solidFill>
                  <a:srgbClr val="101114"/>
                </a:solidFill>
              </a:rPr>
              <a:t>Centraliza datos de ventas, facturación, cotizaciones, clientes, productos, vendedores y compras para producir una lectura accionable por rol.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762000" y="2628900"/>
          <a:ext xmlns:a="http://schemas.openxmlformats.org/drawingml/2006/main" cx="6096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16ab5a2e05472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38989-0443-49F0-99D9-4B1ACD2F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43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7D01B-4313-4FAD-AB16-F63B7794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67000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Resumen ejecutivo, conversión, clientes, productos, vendedores, Pareto, abandonadas y pronósticos.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FB13F-F847-40FE-B703-FA7E5D71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EFEBC-A1AE-44B8-92E6-B08ABA5D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67050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Compras por proveedor, producto, comprador y categoría.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70410-8A32-4D38-99CA-5578866B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43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170C3-C363-4FB3-B14D-BADF6A5A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67100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Reportes HTML descargables y enlaces compartidos con token.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95ED5-6F55-404C-A18F-83A4DA62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43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256F9-8526-45A4-9BD2-F50931D6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67150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Alertas comerciales para clientes inactivos, baja conversión, concentración y cross-sell.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B2C1B-6170-4281-B52C-E97F6E3C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068"/>
                </a:solidFill>
              </a:defRPr>
            </a:pPr>
            <a:r>
              <a:rPr sz="975" b="0">
                <a:solidFill>
                  <a:srgbClr val="5B606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46126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8E7E1-5138-4820-90A3-02A592DF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068"/>
                </a:solidFill>
              </a:defRPr>
            </a:pPr>
            <a:r>
              <a:rPr sz="975" b="1">
                <a:solidFill>
                  <a:srgbClr val="5B6068"/>
                </a:solidFill>
              </a:rPr>
              <a:t>CORPORACIÓN TECTRONIC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70AEA-7ADA-40DB-A0CA-F6A5C4F7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Marketing traduce ventas y CRM en campañas accionables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4e7cc81f347f9"/>
          <a:stretch xmlns:a="http://schemas.openxmlformats.org/drawingml/2006/main"/>
        </p:blipFill>
        <p:spPr>
          <a:xfrm xmlns:a="http://schemas.openxmlformats.org/drawingml/2006/main">
            <a:off x="10858500" y="3048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C58DC-EE21-43DE-B08C-09A329A6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E1664-D694-4701-A171-C65A24EE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D73"/>
                </a:solidFill>
              </a:defRPr>
            </a:pPr>
            <a:r>
              <a:rPr sz="1725" b="1">
                <a:solidFill>
                  <a:srgbClr val="2F7D73"/>
                </a:solidFill>
              </a:rPr>
              <a:t>El módulo responde a quién contactar, por qué motivo, con qué producto y con qué urgencia.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762000" y="2514600"/>
          <a:ext xmlns:a="http://schemas.openxmlformats.org/drawingml/2006/main" cx="4095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df461fde544e6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FD6AB-EE06-4385-AD84-25440957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28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73"/>
          </a:solidFill>
          <a:ln xmlns:a="http://schemas.openxmlformats.org/drawingml/2006/main" w="0">
            <a:solidFill>
              <a:srgbClr val="2F7D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D4F79-4812-4553-978B-9C579EE7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52700"/>
            <a:ext cx="4743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Segmentación RFM y clientes prioritarios para recuperación o venta cruzada.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DB466-9A14-4FE8-B17D-67794239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28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73"/>
          </a:solidFill>
          <a:ln xmlns:a="http://schemas.openxmlformats.org/drawingml/2006/main" w="0">
            <a:solidFill>
              <a:srgbClr val="2F7D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75DC5-74E3-4FFE-A0D3-8AF5A97D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52750"/>
            <a:ext cx="4743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Campañas sugeridas por comportamiento, categoría y etapa comercial.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54D13-0EA7-40A5-8216-54AA4521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29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73"/>
          </a:solidFill>
          <a:ln xmlns:a="http://schemas.openxmlformats.org/drawingml/2006/main" w="0">
            <a:solidFill>
              <a:srgbClr val="2F7D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85479-57FE-45E6-BDEF-D9E76B19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52800"/>
            <a:ext cx="4743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Embudo CRM, pipeline ponderado y oportunidades sin seguimiento.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4CD66-F782-4E64-88E1-29DB9CD6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829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73"/>
          </a:solidFill>
          <a:ln xmlns:a="http://schemas.openxmlformats.org/drawingml/2006/main" w="0">
            <a:solidFill>
              <a:srgbClr val="2F7D7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18633-C2BA-47F0-8CF4-F2EEA7F6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52850"/>
            <a:ext cx="4743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Reporte mensual guardado y descargable para dar continuidad al trabajo de marketing.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F58AB-45A4-4412-A896-B464C698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068"/>
                </a:solidFill>
              </a:defRPr>
            </a:pPr>
            <a:r>
              <a:rPr sz="975" b="0">
                <a:solidFill>
                  <a:srgbClr val="5B606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3767555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AE0590-629E-4653-A4BD-890FD1F5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068"/>
                </a:solidFill>
              </a:defRPr>
            </a:pPr>
            <a:r>
              <a:rPr sz="975" b="1">
                <a:solidFill>
                  <a:srgbClr val="5B6068"/>
                </a:solidFill>
              </a:rPr>
              <a:t>CORPORACIÓN TECTRONIC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C49FF-E792-43E3-81C5-F60A2461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Formularios reducen ambigüedad antes de programar o cotizar desarrollos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635b947214da5"/>
          <a:stretch xmlns:a="http://schemas.openxmlformats.org/drawingml/2006/main"/>
        </p:blipFill>
        <p:spPr>
          <a:xfrm xmlns:a="http://schemas.openxmlformats.org/drawingml/2006/main">
            <a:off x="10858500" y="3048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11682-4EF2-4547-9D6F-3D0F10B3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5E787-A253-4576-8370-474D7C36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Levantamiento técnico maestro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73867-B7E7-4A36-92DE-89C78BDB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A4BF6-8F8E-4FEB-8694-50DEF7FD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Link público para clientes con respuestas centralizadas.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8DF20-3DC6-45F6-BA11-64235CCE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9BED8-BC3C-4E3E-9B0C-74A1702E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Secciones técnicas: impresora, material, códigos, báscula, base de datos, reportes, proceso y aprobación.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BA500-DFCC-4EAB-9F3D-07AF4D9D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E104D-C386-4BE9-83EE-09842E4E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Notificaciones en tiempo real y conteo de respuestas.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20D07-A82D-47CA-A823-71474622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C9695-09F7-420B-9231-A3ADD861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Detalle ejecutivo por respuesta con pendientes, complejidad, adjuntos, CSV, JSON y especificación.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8CE3A-E724-4424-AC5E-230AE0E9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2885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3B81C-1A2B-40A6-8C10-D9D6D7CA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62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47CF6-5141-4FBD-84D5-B847377A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47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Cliente responde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90A34-9938-4403-9D71-63348349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2885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56EFD-380D-4B6D-BFFE-724BC3C2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62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7165C7-136C-4190-8F92-A6AF8E25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47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Sistema notifica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EBD8B1-A6E0-41F5-9203-1065FF72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087891-BE68-466E-9BEB-3D163792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52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F5A0D7-C451-49CA-8D84-809CE4F4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386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Sistemas revisa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9CAF99-528E-4AF3-8F94-CABAC217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47FF0B-3D33-428A-B8CE-4D7FCFD4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52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BF5A8A-FBBC-42E7-9428-1D0C8E7D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386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Especificación lista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F5B8EC-1C9A-4926-B528-1E6A73AC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068"/>
                </a:solidFill>
              </a:defRPr>
            </a:pPr>
            <a:r>
              <a:rPr sz="975" b="0">
                <a:solidFill>
                  <a:srgbClr val="5B606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3283500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20C694-087D-47FE-A0C4-E3CE2FBB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068"/>
                </a:solidFill>
              </a:defRPr>
            </a:pPr>
            <a:r>
              <a:rPr sz="975" b="1">
                <a:solidFill>
                  <a:srgbClr val="5B6068"/>
                </a:solidFill>
              </a:rPr>
              <a:t>CORPORACIÓN TECTRONIC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39841-78A7-4EAC-946A-5B79FCAB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Cotización y cálculo comercial estandarizan precios antes de vender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2f4a0445341da"/>
          <a:stretch xmlns:a="http://schemas.openxmlformats.org/drawingml/2006/main"/>
        </p:blipFill>
        <p:spPr>
          <a:xfrm xmlns:a="http://schemas.openxmlformats.org/drawingml/2006/main">
            <a:off x="10858500" y="3048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5204C-F00E-4175-8DB6-2E004512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bfc5844974d32"/>
          <a:stretch xmlns:a="http://schemas.openxmlformats.org/drawingml/2006/main"/>
        </p:blipFill>
        <p:spPr>
          <a:xfrm xmlns:a="http://schemas.openxmlformats.org/drawingml/2006/main">
            <a:off x="838200" y="2048854"/>
            <a:ext cx="2095500" cy="626692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ae7ea01784b57"/>
          <a:stretch xmlns:a="http://schemas.openxmlformats.org/drawingml/2006/main"/>
        </p:blipFill>
        <p:spPr>
          <a:xfrm xmlns:a="http://schemas.openxmlformats.org/drawingml/2006/main">
            <a:off x="8448675" y="167640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AD0D1-58FA-489D-AE3A-BDE93083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6A4D"/>
                </a:solidFill>
              </a:defRPr>
            </a:pPr>
            <a:r>
              <a:rPr sz="1950" b="1">
                <a:solidFill>
                  <a:srgbClr val="B66A4D"/>
                </a:solidFill>
              </a:rPr>
              <a:t>Cotizador IMEBA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D5717-2C02-4A53-9710-63B5C39C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4D"/>
          </a:solidFill>
          <a:ln xmlns:a="http://schemas.openxmlformats.org/drawingml/2006/main" w="0">
            <a:solidFill>
              <a:srgbClr val="B66A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E89A4-C62D-45FB-B91F-0DAB3896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Cálculo de etiquetas por material, tinta, medidas, acabados y margen.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9B7F3-35E3-4741-B8D2-8D3B1FA6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4D"/>
          </a:solidFill>
          <a:ln xmlns:a="http://schemas.openxmlformats.org/drawingml/2006/main" w="0">
            <a:solidFill>
              <a:srgbClr val="B66A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C5865-EDE3-4896-9E13-D6DE6CD4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Consulta de tipo de cambio USD/MXN y pedido mínimo.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C82DA-605D-4AF3-93B0-B0540049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4D"/>
          </a:solidFill>
          <a:ln xmlns:a="http://schemas.openxmlformats.org/drawingml/2006/main" w="0">
            <a:solidFill>
              <a:srgbClr val="B66A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0E14B-DF00-45A7-9F43-79C99DF6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Comparativo de precio distribuidor, público y total por millares.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60DA9-BE38-4832-8E6C-5E1198C0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80ED"/>
                </a:solidFill>
              </a:defRPr>
            </a:pPr>
            <a:r>
              <a:rPr sz="1950" b="1">
                <a:solidFill>
                  <a:srgbClr val="2F80ED"/>
                </a:solidFill>
              </a:rPr>
              <a:t>Calculadora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DD466A-98BE-4EA2-BB9C-D70F57CF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C791C-60A2-4381-BA17-91175776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719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Costo base en USD o MXN, margen, tipo de cambio API o manual.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4746B-428C-4F08-BD44-E0A18917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F33D0-E1B1-4E39-AFD0-4351B240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148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Resultado final en MXN y USD con utilidad y margen real.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81FFE7-6D05-434E-8E93-36EBFEE7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33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DB2CE-ADC1-4F8C-A87E-F5AA01E1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577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Historial local por usuario para consultas recientes.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88220-FEAE-47D1-A14A-869EEA31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068"/>
                </a:solidFill>
              </a:defRPr>
            </a:pPr>
            <a:r>
              <a:rPr sz="975" b="0">
                <a:solidFill>
                  <a:srgbClr val="5B606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699942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6C3DAF-4620-4F5E-A62A-BB771A0A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068"/>
                </a:solidFill>
              </a:defRPr>
            </a:pPr>
            <a:r>
              <a:rPr sz="975" b="1">
                <a:solidFill>
                  <a:srgbClr val="5B6068"/>
                </a:solidFill>
              </a:rPr>
              <a:t>CORPORACIÓN TECTRONIC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E0C2A-8A25-4843-AC67-8E2E8160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Cotizador de Envíos une Odoo, productos y FedEx para decidir logística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0d3ee6e1d44f3"/>
          <a:stretch xmlns:a="http://schemas.openxmlformats.org/drawingml/2006/main"/>
        </p:blipFill>
        <p:spPr>
          <a:xfrm xmlns:a="http://schemas.openxmlformats.org/drawingml/2006/main">
            <a:off x="10858500" y="3048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8E9E9-CD21-42F3-94ED-EF7740C3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3DE8F-74C4-44BF-988E-08CE8086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66A4D"/>
                </a:solidFill>
              </a:defRPr>
            </a:pPr>
            <a:r>
              <a:rPr sz="1800" b="1">
                <a:solidFill>
                  <a:srgbClr val="B66A4D"/>
                </a:solidFill>
              </a:rPr>
              <a:t>Proceso automatizado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52290-582A-4246-9109-1DEEFE6B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676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A3B89-BD2C-4A1D-8A64-9C0ACE67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Orden Odoo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A9E3A-D560-4B1B-9292-317362FD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068"/>
                </a:solidFill>
              </a:defRPr>
            </a:pPr>
            <a:r>
              <a:rPr sz="1125" b="0">
                <a:solidFill>
                  <a:srgbClr val="5B6068"/>
                </a:solidFill>
              </a:rPr>
              <a:t>Cliente, total y destino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2DF33-5406-486C-8F17-08F738F2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24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1941E-6915-4E45-AACD-53687024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90800"/>
            <a:ext cx="1676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BCC59-17E0-40C4-AAAC-51282E54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Productos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6163B-CBC7-407C-8652-53837CFF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2420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068"/>
                </a:solidFill>
              </a:defRPr>
            </a:pPr>
            <a:r>
              <a:rPr sz="1125" b="0">
                <a:solidFill>
                  <a:srgbClr val="5B6068"/>
                </a:solidFill>
              </a:rPr>
              <a:t>peso, medidas y elegibilidad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9E330-9ADF-417A-ABDD-92E97279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24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431C4-6852-4DE9-8BF1-BBC8445B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90800"/>
            <a:ext cx="1676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1045B8-17B2-4CA9-A08A-F64853B6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003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Paquetes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54C13-1407-422E-9E77-A7CC18CD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2420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068"/>
                </a:solidFill>
              </a:defRPr>
            </a:pPr>
            <a:r>
              <a:rPr sz="1125" b="0">
                <a:solidFill>
                  <a:srgbClr val="5B6068"/>
                </a:solidFill>
              </a:rPr>
              <a:t>peso real, volumétrico y facturable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05F616-4EE3-415F-9AC6-B407A7CE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24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2D71B-F0B0-4F87-BF82-E2BEF2D8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90800"/>
            <a:ext cx="1676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6A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CFC1BC-A00C-43AE-8F28-43015F51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FedEx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704422-A8A6-40CF-B3BE-EFF5ABEB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2420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068"/>
                </a:solidFill>
              </a:defRPr>
            </a:pPr>
            <a:r>
              <a:rPr sz="1125" b="0">
                <a:solidFill>
                  <a:srgbClr val="5B6068"/>
                </a:solidFill>
              </a:rPr>
              <a:t>servicios, tarifa y tránsito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E8946-231D-4B9A-9395-A5678DD3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24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00D144-3EC1-41AC-8EA7-7468B67A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90800"/>
            <a:ext cx="1676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7CFAA3-5F2A-45B9-8072-A43718EB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003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Historial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327899-D835-427A-B2EA-9C96B2DE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2420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068"/>
                </a:solidFill>
              </a:defRPr>
            </a:pPr>
            <a:r>
              <a:rPr sz="1125" b="0">
                <a:solidFill>
                  <a:srgbClr val="5B6068"/>
                </a:solidFill>
              </a:rPr>
              <a:t>folios, paquetes y mejor tarifa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83FB61-E36C-4944-9810-21B9CCBB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4D"/>
          </a:solidFill>
          <a:ln xmlns:a="http://schemas.openxmlformats.org/drawingml/2006/main" w="0">
            <a:solidFill>
              <a:srgbClr val="B66A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6E85BA-CA7A-4C16-AF0E-1D0D0BF0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922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Autocompleta destino desde Odoo y puede completar colonia/ciudad/estado por código postal.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C65EE0-9E35-484B-92BC-5BF3C268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00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4D"/>
          </a:solidFill>
          <a:ln xmlns:a="http://schemas.openxmlformats.org/drawingml/2006/main" w="0">
            <a:solidFill>
              <a:srgbClr val="B66A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6228C0-4F22-48AA-88E6-C6C199C5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922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Permite corregir datos logísticos faltantes y cargar Excel de dimensiones por SKU.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B721B8-22A3-4025-B690-A9981087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4D"/>
          </a:solidFill>
          <a:ln xmlns:a="http://schemas.openxmlformats.org/drawingml/2006/main" w="0">
            <a:solidFill>
              <a:srgbClr val="B66A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87219B-EBDE-4CA8-B87C-A31CEF20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922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Convierte importes USD a MXN usando tipo de cambio y muestra desglose FedEx.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088A94-6E2C-45EA-BFD1-8EE6C239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48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4D"/>
          </a:solidFill>
          <a:ln xmlns:a="http://schemas.openxmlformats.org/drawingml/2006/main" w="0">
            <a:solidFill>
              <a:srgbClr val="B66A4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8B8827-871A-4BE4-891C-546E03D7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72100"/>
            <a:ext cx="922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Administra ambiente FedEx, cuenta, origen, moneda y modo de peso.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BB1ACF-3071-4543-B527-D3BCF942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068"/>
                </a:solidFill>
              </a:defRPr>
            </a:pPr>
            <a:r>
              <a:rPr sz="975" b="0">
                <a:solidFill>
                  <a:srgbClr val="5B606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6351505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4ED7D1-DA40-46B4-B652-A06D3C20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068"/>
                </a:solidFill>
              </a:defRPr>
            </a:pPr>
            <a:r>
              <a:rPr sz="975" b="1">
                <a:solidFill>
                  <a:srgbClr val="5B6068"/>
                </a:solidFill>
              </a:rPr>
              <a:t>CORPORACIÓN TECTRONIC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D5B02-AEF1-4A26-8BBD-BBFB359F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Ajustes protege el acceso y ordena responsabilidades por rol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e90717424456c"/>
          <a:stretch xmlns:a="http://schemas.openxmlformats.org/drawingml/2006/main"/>
        </p:blipFill>
        <p:spPr>
          <a:xfrm xmlns:a="http://schemas.openxmlformats.org/drawingml/2006/main">
            <a:off x="10858500" y="3048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340CF-4700-46BA-AB5A-2642F3CF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6659d4b194902"/>
          <a:stretch xmlns:a="http://schemas.openxmlformats.org/drawingml/2006/main"/>
        </p:blipFill>
        <p:spPr>
          <a:xfrm xmlns:a="http://schemas.openxmlformats.org/drawingml/2006/main">
            <a:off x="1247775" y="1962150"/>
            <a:ext cx="2095500" cy="2095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E61C0-F1E8-4369-BBD4-132342E7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526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52B"/>
                </a:solidFill>
              </a:defRPr>
            </a:pPr>
            <a:r>
              <a:rPr sz="1950" b="1">
                <a:solidFill>
                  <a:srgbClr val="1E252B"/>
                </a:solidFill>
              </a:rPr>
              <a:t>Gobierno operativo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3231B-FE3B-400D-9371-61070DCD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00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1E25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D3C28-7E70-48F5-8530-FCE9B729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24100"/>
            <a:ext cx="560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Roles: propietario, gerente, ventas, marketing, soporte y compras.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76775-76B4-4F1D-8DC9-4417CA85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00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1E25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B738B-3A7D-40D4-9832-F194587D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560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Permisos por módulo con alcance global o solo registros propios.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8F989-13F2-42F0-BFCC-C843909B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00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1E25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0837B-8F15-4D96-9729-5F824F9B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24200"/>
            <a:ext cx="560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Usuarios administrados desde Edge Functions autenticadas.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E8CCE-ECC8-4C0B-9018-97EBC5E1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00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1E25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1A18B-1DE4-4A7C-AADA-646E9AAD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24250"/>
            <a:ext cx="560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Configuración de correo para soportes y credenciales sensibles fuera del cliente.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AC8FB-D074-4597-B3E3-8E3CB72F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62500"/>
            <a:ext cx="4572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02441D-0A59-40CA-A3BA-1A16993A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530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52B"/>
                </a:solidFill>
              </a:defRPr>
            </a:pPr>
            <a:r>
              <a:rPr sz="2250" b="1">
                <a:solidFill>
                  <a:srgbClr val="1E252B"/>
                </a:solidFill>
              </a:rPr>
              <a:t>View / Create / Edit / Delete / Export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3DD7A-2185-4530-83F4-0CE86CC9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530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8"/>
                </a:solidFill>
              </a:defRPr>
            </a:pPr>
            <a:r>
              <a:rPr sz="1200" b="0">
                <a:solidFill>
                  <a:srgbClr val="5B6068"/>
                </a:solidFill>
              </a:rPr>
              <a:t>control de acceso por módulo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FDA76-5DA1-4525-A303-65F45E64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068"/>
                </a:solidFill>
              </a:defRPr>
            </a:pPr>
            <a:r>
              <a:rPr sz="975" b="0">
                <a:solidFill>
                  <a:srgbClr val="5B6068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2264106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B8AE54-5F1E-4259-A861-56C631D1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068"/>
                </a:solidFill>
              </a:defRPr>
            </a:pPr>
            <a:r>
              <a:rPr sz="975" b="1">
                <a:solidFill>
                  <a:srgbClr val="5B6068"/>
                </a:solidFill>
              </a:rPr>
              <a:t>CORPORACIÓN TECTRONIC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5E91C-365C-4396-BD63-4D281EDB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El valor está en la cadena completa: captura, operación, decisión y seguimiento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dec749702492a"/>
          <a:stretch xmlns:a="http://schemas.openxmlformats.org/drawingml/2006/main"/>
        </p:blipFill>
        <p:spPr>
          <a:xfrm xmlns:a="http://schemas.openxmlformats.org/drawingml/2006/main">
            <a:off x="10858500" y="3048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2C930-FF22-44B2-BBC4-248AE4D9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E5ACD-E3F6-425C-9083-AE0FA114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2095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7E3B8-C113-41DB-BD61-8A365405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Captura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87A8D-4441-4E49-84D9-0380BC62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068"/>
                </a:solidFill>
              </a:defRPr>
            </a:pPr>
            <a:r>
              <a:rPr sz="1200" b="0">
                <a:solidFill>
                  <a:srgbClr val="5B6068"/>
                </a:solidFill>
              </a:rPr>
              <a:t>Soportes, formularios, pólizas, inventario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79FF2-CDBB-4709-97E2-79056F5A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38400"/>
            <a:ext cx="2095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D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B882D-1FF6-4FD7-9A84-4A2BC2C1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24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7D73"/>
                </a:solidFill>
              </a:defRPr>
            </a:pPr>
            <a:r>
              <a:rPr sz="1800" b="1">
                <a:solidFill>
                  <a:srgbClr val="2F7D73"/>
                </a:solidFill>
              </a:rPr>
              <a:t>Estandarización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C20DB-E452-4306-957C-41F27ED8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813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068"/>
                </a:solidFill>
              </a:defRPr>
            </a:pPr>
            <a:r>
              <a:rPr sz="1200" b="0">
                <a:solidFill>
                  <a:srgbClr val="5B6068"/>
                </a:solidFill>
              </a:rPr>
              <a:t>catálogos, permisos, folios, movimientos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58707-2315-4F91-9BE9-F611A2CC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38400"/>
            <a:ext cx="2095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6A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24383-C076-4B45-B24A-E189BA78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24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66A4D"/>
                </a:solidFill>
              </a:defRPr>
            </a:pPr>
            <a:r>
              <a:rPr sz="1800" b="1">
                <a:solidFill>
                  <a:srgbClr val="B66A4D"/>
                </a:solidFill>
              </a:rPr>
              <a:t>Automatización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23701-4E32-40AF-9D0A-233FC604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813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068"/>
                </a:solidFill>
              </a:defRPr>
            </a:pPr>
            <a:r>
              <a:rPr sz="1200" b="0">
                <a:solidFill>
                  <a:srgbClr val="5B6068"/>
                </a:solidFill>
              </a:rPr>
              <a:t>Odoo, FedEx, tipo de cambio, alertas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930AD-6007-4078-80DB-98CC6F69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38400"/>
            <a:ext cx="2095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25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EB2AD-A363-4433-9CEC-1CF6CD51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252B"/>
                </a:solidFill>
              </a:defRPr>
            </a:pPr>
            <a:r>
              <a:rPr sz="1800" b="1">
                <a:solidFill>
                  <a:srgbClr val="1E252B"/>
                </a:solidFill>
              </a:rPr>
              <a:t>Decisión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7EDA2-76C9-4975-8851-B7456072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813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068"/>
                </a:solidFill>
              </a:defRPr>
            </a:pPr>
            <a:r>
              <a:rPr sz="1200" b="0">
                <a:solidFill>
                  <a:srgbClr val="5B6068"/>
                </a:solidFill>
              </a:rPr>
              <a:t>reportes, marketing, compras, pronóstico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1E7C8-308B-4132-ACFC-187B65F3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114"/>
                </a:solidFill>
              </a:defRPr>
            </a:pPr>
            <a:r>
              <a:rPr sz="1800" b="1">
                <a:solidFill>
                  <a:srgbClr val="101114"/>
                </a:solidFill>
              </a:rPr>
              <a:t>Cada módulo resuelve una necesidad puntual, pero el sistema completo crea una memoria operativa que antes suele quedar repartida entre chats, correos, hojas de cálculo y consultas manuales.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B9D2D-5F0A-4679-8802-8E3CCF2A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068"/>
                </a:solidFill>
              </a:defRPr>
            </a:pPr>
            <a:r>
              <a:rPr sz="975" b="0">
                <a:solidFill>
                  <a:srgbClr val="5B606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6576000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AE519-106A-4F3C-A574-4AD45CFB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068"/>
                </a:solidFill>
              </a:defRPr>
            </a:pPr>
            <a:r>
              <a:rPr sz="975" b="1">
                <a:solidFill>
                  <a:srgbClr val="5B6068"/>
                </a:solidFill>
              </a:rPr>
              <a:t>CORPORACIÓN TECTRONIC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6D759-AE2A-4BB2-8488-C07466FE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Potencial directivo: menos fricción operativa y más señales accionables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aab23863444c8"/>
          <a:stretch xmlns:a="http://schemas.openxmlformats.org/drawingml/2006/main"/>
        </p:blipFill>
        <p:spPr>
          <a:xfrm xmlns:a="http://schemas.openxmlformats.org/drawingml/2006/main">
            <a:off x="10858500" y="3048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38788-EE6C-4B7A-BDA7-252BB702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838200" y="2038350"/>
          <a:ext xmlns:a="http://schemas.openxmlformats.org/drawingml/2006/main" cx="5524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bfd5df03ea48e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12CC2-74B2-4418-B42A-E4C93DFD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43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73"/>
          </a:solidFill>
          <a:ln xmlns:a="http://schemas.openxmlformats.org/drawingml/2006/main" w="0">
            <a:solidFill>
              <a:srgbClr val="2F7D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E5C54-D8C9-4B81-BEA3-D8702B89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66950"/>
            <a:ext cx="379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Trazabilidad: soporte, eventos, evidencias, movimientos e historial consultable.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CF37D-A00F-4256-93C3-F7FA2BF6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62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73"/>
          </a:solidFill>
          <a:ln xmlns:a="http://schemas.openxmlformats.org/drawingml/2006/main" w="0">
            <a:solidFill>
              <a:srgbClr val="2F7D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03ECB-6D18-4DDF-882C-44181916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86050"/>
            <a:ext cx="379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Velocidad: cotizaciones, formularios, importaciones y búsquedas reducen tareas repetitivas.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AB310-1794-4E3D-BCC2-30097D79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81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73"/>
          </a:solidFill>
          <a:ln xmlns:a="http://schemas.openxmlformats.org/drawingml/2006/main" w="0">
            <a:solidFill>
              <a:srgbClr val="2F7D7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D5534-78B1-4807-B4E2-6088BB10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05150"/>
            <a:ext cx="379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Decisión: reportes, marketing y compras conectan Odoo con indicadores ejecutivos.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07027-BF4D-4B50-94E8-77ACC285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00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73"/>
          </a:solidFill>
          <a:ln xmlns:a="http://schemas.openxmlformats.org/drawingml/2006/main" w="0">
            <a:solidFill>
              <a:srgbClr val="2F7D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7AA10-9626-4074-A728-5C39EA25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24250"/>
            <a:ext cx="379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Control: permisos por rol, alcance y configuración central.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D7223-2165-4163-8036-01F78DA2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068"/>
                </a:solidFill>
              </a:defRPr>
            </a:pPr>
            <a:r>
              <a:rPr sz="975" b="0">
                <a:solidFill>
                  <a:srgbClr val="5B6068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0348597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F3153B-6AC8-4E01-ACF0-410214B1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068"/>
                </a:solidFill>
              </a:defRPr>
            </a:pPr>
            <a:r>
              <a:rPr sz="975" b="1">
                <a:solidFill>
                  <a:srgbClr val="5B6068"/>
                </a:solidFill>
              </a:rPr>
              <a:t>CORPORACIÓN TECTRONIC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31269-9D39-46FF-8597-1AA4A7E4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Cierre: el sistema ya es una base para dirigir con datos y operar con menos retrabajo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047eb9fcd4a8b"/>
          <a:stretch xmlns:a="http://schemas.openxmlformats.org/drawingml/2006/main"/>
        </p:blipFill>
        <p:spPr>
          <a:xfrm xmlns:a="http://schemas.openxmlformats.org/drawingml/2006/main">
            <a:off x="10858500" y="3048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13202-F464-4223-8F99-E785E74C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DE836-52D2-4A1B-A30E-694A2B6F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80ED"/>
                </a:solidFill>
              </a:defRPr>
            </a:pPr>
            <a:r>
              <a:rPr sz="1950" b="1">
                <a:solidFill>
                  <a:srgbClr val="2F80ED"/>
                </a:solidFill>
              </a:rPr>
              <a:t>Siguiente conversación con dirección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E5AF2-BD4F-420E-8FB9-0F7FE999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A92CA-6989-4DA9-94FF-733D5154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741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Priorizar módulos críticos para adopción por área y responsable.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0036D-A3AD-4DEF-816F-D7912108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FCAEF-9A75-4EF4-BDF4-1774CCA2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741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Definir métricas de éxito: tiempo de respuesta, tickets consultados, cotizaciones, recuperación de clientes, exactitud de inventario.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E80BC-8D93-404E-88B6-EF905025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EDEF2-9BEC-4AE2-8773-318DD2F2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741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Validar integraciones productivas: Odoo, FedEx, correo, reportes compartidos y carga de datos.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8EC6D-0EAD-43CD-8FB5-192A4EE0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2AEB5-69AB-4A05-83A9-A29A574A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741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Convertir el backlog en roadmap: mejoras de UX, automatizaciones adicionales y tableros para dirección.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55C43-7D54-45DA-91A2-2A91AC5A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30AB5-6F90-4675-9727-97881B15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908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068"/>
                </a:solidFill>
              </a:defRPr>
            </a:pPr>
            <a:r>
              <a:rPr sz="1200" b="0">
                <a:solidFill>
                  <a:srgbClr val="5B6068"/>
                </a:solidFill>
              </a:rPr>
              <a:t>Presentado por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56232-135C-4655-8132-27CEC756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527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114"/>
                </a:solidFill>
              </a:defRPr>
            </a:pPr>
            <a:r>
              <a:rPr sz="1875" b="1">
                <a:solidFill>
                  <a:srgbClr val="101114"/>
                </a:solidFill>
              </a:rPr>
              <a:t>Joel Trincado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8E940D-41F7-40F6-82C3-2AEDE18E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2900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068"/>
                </a:solidFill>
              </a:defRPr>
            </a:pPr>
            <a:r>
              <a:rPr sz="1275" b="0">
                <a:solidFill>
                  <a:srgbClr val="5B6068"/>
                </a:solidFill>
              </a:rPr>
              <a:t>Departamento de Sistemas</a:t>
            </a:r>
          </a:p>
          <a:p xmlns:a="http://schemas.openxmlformats.org/drawingml/2006/main">
            <a:pPr algn="ctr">
              <a:defRPr sz="1275" b="0">
                <a:solidFill>
                  <a:srgbClr val="5B6068"/>
                </a:solidFill>
              </a:defRPr>
            </a:pPr>
            <a:r>
              <a:rPr sz="1275" b="0">
                <a:solidFill>
                  <a:srgbClr val="5B6068"/>
                </a:solidFill>
              </a:rPr>
              <a:t>Corporación Tectronic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A02F7-257D-40E3-8B6B-A6BF9FEA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068"/>
                </a:solidFill>
              </a:defRPr>
            </a:pPr>
            <a:r>
              <a:rPr sz="975" b="0">
                <a:solidFill>
                  <a:srgbClr val="5B6068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24836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2026-08-27T14:54:52.4600000Z</dcterms:created>
  <dcterms:modified xsi:type="dcterms:W3CDTF">2026-08-27T14:54:52.4600000Z</dcterms:modified>
</coreProperties>
</file>