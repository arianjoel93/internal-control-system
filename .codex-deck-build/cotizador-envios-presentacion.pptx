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aec60aeaf44db" /><Relationship Type="http://schemas.openxmlformats.org/officeDocument/2006/relationships/extended-properties" Target="/docProps/app.xml" Id="Rfcf564839ffd4e83" /><Relationship Type="http://schemas.openxmlformats.org/officeDocument/2006/relationships/officeDocument" Target="/ppt/presentation.xml" Id="Rddb116c6f57b4f0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29e9913363a41b6"/>
  </p:sldMasterIdLst>
  <p:notesMasterIdLst>
    <p:notesMasterId xmlns:r="http://schemas.openxmlformats.org/officeDocument/2006/relationships" r:id="Rb7c5b46206984d1c"/>
  </p:notesMasterIdLst>
  <p:sldIdLst>
    <p:sldId xmlns:r="http://schemas.openxmlformats.org/officeDocument/2006/relationships" id="256" r:id="R064e6cdff1f745c3"/>
    <p:sldId xmlns:r="http://schemas.openxmlformats.org/officeDocument/2006/relationships" id="257" r:id="Rc061e306ba904af3"/>
    <p:sldId xmlns:r="http://schemas.openxmlformats.org/officeDocument/2006/relationships" id="258" r:id="Rec4f9fc2e34243f4"/>
    <p:sldId xmlns:r="http://schemas.openxmlformats.org/officeDocument/2006/relationships" id="259" r:id="Rada8232773c544f7"/>
    <p:sldId xmlns:r="http://schemas.openxmlformats.org/officeDocument/2006/relationships" id="260" r:id="Rbdcb1ae188364ac7"/>
    <p:sldId xmlns:r="http://schemas.openxmlformats.org/officeDocument/2006/relationships" id="261" r:id="R3a00fc7faf8c4ed9"/>
    <p:sldId xmlns:r="http://schemas.openxmlformats.org/officeDocument/2006/relationships" id="262" r:id="R359cafda4ec24ae4"/>
    <p:sldId xmlns:r="http://schemas.openxmlformats.org/officeDocument/2006/relationships" id="263" r:id="Rba09539bff4d4b09"/>
    <p:sldId xmlns:r="http://schemas.openxmlformats.org/officeDocument/2006/relationships" id="264" r:id="R6a8deb27a1d34b81"/>
    <p:sldId xmlns:r="http://schemas.openxmlformats.org/officeDocument/2006/relationships" id="265" r:id="Ra78ac594a8194d0c"/>
    <p:sldId xmlns:r="http://schemas.openxmlformats.org/officeDocument/2006/relationships" id="266" r:id="R7cd66c02374f4037"/>
    <p:sldId xmlns:r="http://schemas.openxmlformats.org/officeDocument/2006/relationships" id="267" r:id="R023ad5d1b9684608"/>
    <p:sldId xmlns:r="http://schemas.openxmlformats.org/officeDocument/2006/relationships" id="268" r:id="Rc32924cfbaa74252"/>
  </p:sldIdLst>
  <p:sldSz cx="12192000" cy="6858000"/>
  <p:notesSz cx="6858000" cy="9144000"/>
  <p:embeddedFontLst>
    <p:embeddedFont>
      <p:font typeface="Inter"/>
      <p:regular xmlns:r="http://schemas.openxmlformats.org/officeDocument/2006/relationships" r:id="R35b8b58cfd1c4d87"/>
      <p:bold xmlns:r="http://schemas.openxmlformats.org/officeDocument/2006/relationships" r:id="Rd9066349d12944c0"/>
    </p:embeddedFont>
    <p:embeddedFont>
      <p:font typeface="Inter Medium"/>
      <p:regular xmlns:r="http://schemas.openxmlformats.org/officeDocument/2006/relationships" r:id="R6b6c40fe2fe34fe5"/>
    </p:embeddedFont>
    <p:embeddedFont>
      <p:font typeface="Inter SemiBold"/>
      <p:regular xmlns:r="http://schemas.openxmlformats.org/officeDocument/2006/relationships" r:id="R759fb0bc1d7b4037"/>
      <p:bold xmlns:r="http://schemas.openxmlformats.org/officeDocument/2006/relationships" r:id="Rc39fb00ed9774023"/>
    </p:embeddedFont>
    <p:embeddedFont>
      <p:font typeface="OpenAI Sans"/>
      <p:regular xmlns:r="http://schemas.openxmlformats.org/officeDocument/2006/relationships" r:id="Rb1fe36730ccc43c3"/>
      <p:bold xmlns:r="http://schemas.openxmlformats.org/officeDocument/2006/relationships" r:id="Ra4c0e6754cfe43c1"/>
      <p:italic xmlns:r="http://schemas.openxmlformats.org/officeDocument/2006/relationships" r:id="R45b8a06c91dd439f"/>
      <p:boldItalic xmlns:r="http://schemas.openxmlformats.org/officeDocument/2006/relationships" r:id="R335d5e4d3d804fd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f118ceb9d544d4" /><Relationship Type="http://schemas.openxmlformats.org/officeDocument/2006/relationships/slideMaster" Target="/ppt/slideMasters/slideMaster1.xml" Id="R629e9913363a41b6" /><Relationship Type="http://schemas.openxmlformats.org/officeDocument/2006/relationships/notesMaster" Target="/ppt/notesMasters/notesMaster1.xml" Id="Rb7c5b46206984d1c" /><Relationship Type="http://schemas.openxmlformats.org/officeDocument/2006/relationships/presProps" Target="/ppt/presProps.xml" Id="R0f880eb8bdff4d46" /><Relationship Type="http://schemas.openxmlformats.org/officeDocument/2006/relationships/viewProps" Target="/ppt/viewProps.xml" Id="R53c9e87245cb47e7" /><Relationship Type="http://schemas.openxmlformats.org/officeDocument/2006/relationships/tableStyles" Target="/ppt/tableStyles.xml" Id="Ra77cc2e37efe4a58" /><Relationship Type="http://schemas.openxmlformats.org/officeDocument/2006/relationships/font" Target="/ppt/fonts/font.dat" Id="R35b8b58cfd1c4d87" /><Relationship Type="http://schemas.openxmlformats.org/officeDocument/2006/relationships/font" Target="/ppt/fonts/font2.dat" Id="Rd9066349d12944c0" /><Relationship Type="http://schemas.openxmlformats.org/officeDocument/2006/relationships/font" Target="/ppt/fonts/font3.dat" Id="R6b6c40fe2fe34fe5" /><Relationship Type="http://schemas.openxmlformats.org/officeDocument/2006/relationships/font" Target="/ppt/fonts/font4.dat" Id="R759fb0bc1d7b4037" /><Relationship Type="http://schemas.openxmlformats.org/officeDocument/2006/relationships/font" Target="/ppt/fonts/font5.dat" Id="Rc39fb00ed9774023" /><Relationship Type="http://schemas.openxmlformats.org/officeDocument/2006/relationships/font" Target="/ppt/fonts/font6.dat" Id="Rb1fe36730ccc43c3" /><Relationship Type="http://schemas.openxmlformats.org/officeDocument/2006/relationships/font" Target="/ppt/fonts/font7.dat" Id="Ra4c0e6754cfe43c1" /><Relationship Type="http://schemas.openxmlformats.org/officeDocument/2006/relationships/font" Target="/ppt/fonts/font8.dat" Id="R45b8a06c91dd439f" /><Relationship Type="http://schemas.openxmlformats.org/officeDocument/2006/relationships/font" Target="/ppt/fonts/font9.dat" Id="R335d5e4d3d804fd5" /><Relationship Type="http://schemas.openxmlformats.org/officeDocument/2006/relationships/slide" Target="/ppt/slides/slide1.xml" Id="R064e6cdff1f745c3" /><Relationship Type="http://schemas.openxmlformats.org/officeDocument/2006/relationships/slide" Target="/ppt/slides/slide2.xml" Id="Rc061e306ba904af3" /><Relationship Type="http://schemas.openxmlformats.org/officeDocument/2006/relationships/slide" Target="/ppt/slides/slide3.xml" Id="Rec4f9fc2e34243f4" /><Relationship Type="http://schemas.openxmlformats.org/officeDocument/2006/relationships/slide" Target="/ppt/slides/slide4.xml" Id="Rada8232773c544f7" /><Relationship Type="http://schemas.openxmlformats.org/officeDocument/2006/relationships/slide" Target="/ppt/slides/slide5.xml" Id="Rbdcb1ae188364ac7" /><Relationship Type="http://schemas.openxmlformats.org/officeDocument/2006/relationships/slide" Target="/ppt/slides/slide6.xml" Id="R3a00fc7faf8c4ed9" /><Relationship Type="http://schemas.openxmlformats.org/officeDocument/2006/relationships/slide" Target="/ppt/slides/slide7.xml" Id="R359cafda4ec24ae4" /><Relationship Type="http://schemas.openxmlformats.org/officeDocument/2006/relationships/slide" Target="/ppt/slides/slide8.xml" Id="Rba09539bff4d4b09" /><Relationship Type="http://schemas.openxmlformats.org/officeDocument/2006/relationships/slide" Target="/ppt/slides/slide9.xml" Id="R6a8deb27a1d34b81" /><Relationship Type="http://schemas.openxmlformats.org/officeDocument/2006/relationships/slide" Target="/ppt/slides/slide10.xml" Id="Ra78ac594a8194d0c" /><Relationship Type="http://schemas.openxmlformats.org/officeDocument/2006/relationships/slide" Target="/ppt/slides/slide11.xml" Id="R7cd66c02374f4037" /><Relationship Type="http://schemas.openxmlformats.org/officeDocument/2006/relationships/slide" Target="/ppt/slides/slide12.xml" Id="R023ad5d1b9684608" /><Relationship Type="http://schemas.openxmlformats.org/officeDocument/2006/relationships/slide" Target="/ppt/slides/slide13.xml" Id="Rc32924cfbaa7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8ebd2391a845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413ad3321e4a00" /><Relationship Type="http://schemas.openxmlformats.org/officeDocument/2006/relationships/notesMaster" Target="/ppt/notesMasters/notesMaster1.xml" Id="R19c2d1a408854d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9f3d9d9724c70" /><Relationship Type="http://schemas.openxmlformats.org/officeDocument/2006/relationships/notesMaster" Target="/ppt/notesMasters/notesMaster1.xml" Id="R73e040b7b3b849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f0851de3f64d9c" /><Relationship Type="http://schemas.openxmlformats.org/officeDocument/2006/relationships/notesMaster" Target="/ppt/notesMasters/notesMaster1.xml" Id="Re1910fae65ff42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970a7ff3a45b7" /><Relationship Type="http://schemas.openxmlformats.org/officeDocument/2006/relationships/notesMaster" Target="/ppt/notesMasters/notesMaster1.xml" Id="Rcf43061c3fae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13a4abd5274e28" /><Relationship Type="http://schemas.openxmlformats.org/officeDocument/2006/relationships/notesMaster" Target="/ppt/notesMasters/notesMaster1.xml" Id="Rc6c79f8205cd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9ce84dff04060" /><Relationship Type="http://schemas.openxmlformats.org/officeDocument/2006/relationships/notesMaster" Target="/ppt/notesMasters/notesMaster1.xml" Id="R7b5ceae7559345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a96a7ffb8645f2" /><Relationship Type="http://schemas.openxmlformats.org/officeDocument/2006/relationships/notesMaster" Target="/ppt/notesMasters/notesMaster1.xml" Id="R71c084719a2a4a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d926ca12f54398" /><Relationship Type="http://schemas.openxmlformats.org/officeDocument/2006/relationships/notesMaster" Target="/ppt/notesMasters/notesMaster1.xml" Id="Rc8cac96ef80f45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6ab496a4a747e4" /><Relationship Type="http://schemas.openxmlformats.org/officeDocument/2006/relationships/notesMaster" Target="/ppt/notesMasters/notesMaster1.xml" Id="R31b8b8d7ca1e4c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5621a1f8c444ce" /><Relationship Type="http://schemas.openxmlformats.org/officeDocument/2006/relationships/notesMaster" Target="/ppt/notesMasters/notesMaster1.xml" Id="R89c7629570cd4e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93e010b67748a0" /><Relationship Type="http://schemas.openxmlformats.org/officeDocument/2006/relationships/notesMaster" Target="/ppt/notesMasters/notesMaster1.xml" Id="R5dc93a7c8afa46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116d5bdaac4846" /><Relationship Type="http://schemas.openxmlformats.org/officeDocument/2006/relationships/notesMaster" Target="/ppt/notesMasters/notesMaster1.xml" Id="R234690cb369649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454e5a7ced455d" /><Relationship Type="http://schemas.openxmlformats.org/officeDocument/2006/relationships/notesMaster" Target="/ppt/notesMasters/notesMaster1.xml" Id="R096a23839b34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elaborada a partir de la implementación actual. Fuente principal: src/features/shipping/ShippingQuotesDashboard.tsx, src/features/shipping/ShippingPackingWorkspace.tsx, src/features/shipping/packingPreview.ts, src/features/shipping/shippingQuoteMath.ts y supabase/functions/_shared/shipping-packing.ts.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src/features/shipping/ShippingQuotesDashboard.tsx; src/features/shipping/shippingQuotesService.ts; supabase/functions/shipping-quote/index.ts. La presentación resume el flujo visible y la separación de responsabilidades.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src/features/shipping/ShippingQuotesDashboard.tsx; src/features/shipping/ShippingPackingWorkspace.tsx; src/features/shipping/packingPreview.ts; src/features/shipping/shippingQuoteMath.ts; supabase/functions/_shared/shipping-packing.ts; supabase/functions/shipping-quote/index.ts.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src/features/shipping/ShippingQuotesDashboard.tsx, src/features/shipping/ShippingPackingWorkspace.tsx, supabase/functions/_shared/shipping-packing.ts. Los nombres de tablas se basan en el esquema actual del cotizador.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src/features/shipping/ShippingPackingWorkspace.tsx; src/features/shipping/shippingQuoteMath.ts. La ilustración muestra datos de ejemplo para explicar la UI; no representa una orden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src/features/shipping/ShippingPackingWorkspace.tsx; src/features/shipping/packingPreview.ts; src/features/shipping/packingEngine.ts. Estrategias y controles corresponden a la implementación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supabase/functions/_shared/shipping-packing.ts. Se describen normalizePackaging, normalizePackingLines, generatePackingPlan y validatePackingAssignments.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src/features/shipping/shippingQuoteMath.ts; supabase/functions/_shared/shipping-packing.ts. Los valores del gráfico son un ejemplo visual para explicar la fórmula; el sistema calcula los valores reales de cada bulto.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src/features/shipping/packingPreview.ts; src/features/shipping/shippingQuoteMath.ts; src/features/shipping/ShippingPackingWorkspace.tsx. Estados y validaciones se resumen de la lógica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supabase/functions/shipping-quote/index.ts; src/features/shipping/shippingQuotesService.ts; src/features/shipping/shippingQuoteMath.ts. La presentación no muestra secretos ni tokens.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esquema actual en supabase/migrations y funciones del módulo de envíos. Nombres de tablas representados según la implementación existente.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src/features/shipping/ShippingQuotesDashboard.tsx y src/features/shipping/ShippingPackingWorkspace.tsx. Es la secuencia operativa sugerida a partir de la UI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arquitectura y archivos del módulo de Cotizador de Envíos. La conclusión resume el propósito operativo de Embalaje y resumen y Distribución propuesta del envío.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acaa1e5f44b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f9aea268649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f0cfec784d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3f7866e5e49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85a5e161040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1e3e089874dc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8701efe9641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2138d34c24b8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c2f68492642f8" /><Relationship Type="http://schemas.openxmlformats.org/officeDocument/2006/relationships/image" Target="/ppt/media/image.png" Id="Re4413a3488bd416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eee328dd048e9" /><Relationship Type="http://schemas.openxmlformats.org/officeDocument/2006/relationships/image" Target="/ppt/media/image2.png" Id="R49ea750e2abc424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e4413a3488bd416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49ea750e2abc424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52ecc2ab7d4163" /><Relationship Type="http://schemas.openxmlformats.org/officeDocument/2006/relationships/slideLayout" Target="/ppt/slideLayouts/slideLayout1.xml" Id="R2ff3c4147927468e" /><Relationship Type="http://schemas.openxmlformats.org/officeDocument/2006/relationships/slideLayout" Target="/ppt/slideLayouts/slideLayout2.xml" Id="Rb3bd5880f5464093" /><Relationship Type="http://schemas.openxmlformats.org/officeDocument/2006/relationships/slideLayout" Target="/ppt/slideLayouts/slideLayout3.xml" Id="R2e63f2a4bfb642a6" /><Relationship Type="http://schemas.openxmlformats.org/officeDocument/2006/relationships/slideLayout" Target="/ppt/slideLayouts/slideLayout4.xml" Id="Ra854287069704660" /><Relationship Type="http://schemas.openxmlformats.org/officeDocument/2006/relationships/slideLayout" Target="/ppt/slideLayouts/slideLayout5.xml" Id="R366325453c1b4d83" /><Relationship Type="http://schemas.openxmlformats.org/officeDocument/2006/relationships/slideLayout" Target="/ppt/slideLayouts/slideLayout6.xml" Id="R651c0195a1064a69" /><Relationship Type="http://schemas.openxmlformats.org/officeDocument/2006/relationships/slideLayout" Target="/ppt/slideLayouts/slideLayout7.xml" Id="R35869a8434624181" /><Relationship Type="http://schemas.openxmlformats.org/officeDocument/2006/relationships/slideLayout" Target="/ppt/slideLayouts/slideLayout8.xml" Id="Rc840e3268b174a68" /><Relationship Type="http://schemas.openxmlformats.org/officeDocument/2006/relationships/slideLayout" Target="/ppt/slideLayouts/slideLayout9.xml" Id="Ra43dd889803447e0" /><Relationship Type="http://schemas.openxmlformats.org/officeDocument/2006/relationships/slideLayout" Target="/ppt/slideLayouts/slideLayout10.xml" Id="Rf054317c5fe54c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3c4147927468e"/>
    <p:sldLayoutId xmlns:r="http://schemas.openxmlformats.org/officeDocument/2006/relationships" id="2147483650" r:id="Rb3bd5880f5464093"/>
    <p:sldLayoutId xmlns:r="http://schemas.openxmlformats.org/officeDocument/2006/relationships" id="2147483651" r:id="R2e63f2a4bfb642a6"/>
    <p:sldLayoutId xmlns:r="http://schemas.openxmlformats.org/officeDocument/2006/relationships" id="2147483652" r:id="Ra854287069704660"/>
    <p:sldLayoutId xmlns:r="http://schemas.openxmlformats.org/officeDocument/2006/relationships" id="2147483653" r:id="R366325453c1b4d83"/>
    <p:sldLayoutId xmlns:r="http://schemas.openxmlformats.org/officeDocument/2006/relationships" id="2147483654" r:id="R651c0195a1064a69"/>
    <p:sldLayoutId xmlns:r="http://schemas.openxmlformats.org/officeDocument/2006/relationships" id="2147483655" r:id="R35869a8434624181"/>
    <p:sldLayoutId xmlns:r="http://schemas.openxmlformats.org/officeDocument/2006/relationships" id="2147483656" r:id="Rc840e3268b174a68"/>
    <p:sldLayoutId xmlns:r="http://schemas.openxmlformats.org/officeDocument/2006/relationships" id="2147483657" r:id="Ra43dd889803447e0"/>
    <p:sldLayoutId xmlns:r="http://schemas.openxmlformats.org/officeDocument/2006/relationships" id="2147483658" r:id="Rf054317c5fe54cd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0c05cae844e5c" /><Relationship Type="http://schemas.openxmlformats.org/officeDocument/2006/relationships/image" Target="/ppt/media/image3.png" Id="R5a8b7b1aebbf4f65" /><Relationship Type="http://schemas.openxmlformats.org/officeDocument/2006/relationships/notesSlide" Target="/ppt/notesSlides/notesSlide1.xml" Id="R86f3f54c95ff4d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826e4198d7a4deb" /><Relationship Type="http://schemas.openxmlformats.org/officeDocument/2006/relationships/notesSlide" Target="/ppt/notesSlides/notesSlide2.xml" Id="R99f46f3e272e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1501260cfad4daa" /><Relationship Type="http://schemas.openxmlformats.org/officeDocument/2006/relationships/notesSlide" Target="/ppt/notesSlides/notesSlide3.xml" Id="Rd8e2bc430e0c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da9478dafee49c0" /><Relationship Type="http://schemas.openxmlformats.org/officeDocument/2006/relationships/notesSlide" Target="/ppt/notesSlides/notesSlide4.xml" Id="R367fbe15f54d4a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1832c64671642b7" /><Relationship Type="http://schemas.openxmlformats.org/officeDocument/2006/relationships/notesSlide" Target="/ppt/notesSlides/notesSlide5.xml" Id="R559de6bd0e924f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1036ad25a014853" /><Relationship Type="http://schemas.openxmlformats.org/officeDocument/2006/relationships/notesSlide" Target="/ppt/notesSlides/notesSlide6.xml" Id="R209049cf1da345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439dbc08f44213" /><Relationship Type="http://schemas.openxmlformats.org/officeDocument/2006/relationships/notesSlide" Target="/ppt/notesSlides/notesSlide7.xml" Id="R1a6d1f65db7648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b0c8ee2e6be4d10" /><Relationship Type="http://schemas.openxmlformats.org/officeDocument/2006/relationships/notesSlide" Target="/ppt/notesSlides/notesSlide8.xml" Id="Rfd8d65f3f85546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e1969718c864c39" /><Relationship Type="http://schemas.openxmlformats.org/officeDocument/2006/relationships/notesSlide" Target="/ppt/notesSlides/notesSlide9.xml" Id="R19d8cffa8bf741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05ce4864fd74311" /><Relationship Type="http://schemas.openxmlformats.org/officeDocument/2006/relationships/notesSlide" Target="/ppt/notesSlides/notesSlide10.xml" Id="R40dd873ef14b45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fcff460d1048cd" /><Relationship Type="http://schemas.openxmlformats.org/officeDocument/2006/relationships/notesSlide" Target="/ppt/notesSlides/notesSlide11.xml" Id="R8664092f4d5c48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065cb9580404a2d" /><Relationship Type="http://schemas.openxmlformats.org/officeDocument/2006/relationships/notesSlide" Target="/ppt/notesSlides/notesSlide12.xml" Id="R9b2cb644e70448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cafa7fafbf4458" /><Relationship Type="http://schemas.openxmlformats.org/officeDocument/2006/relationships/notesSlide" Target="/ppt/notesSlides/notesSlide13.xml" Id="Rf816fcfea4e04d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607C"/>
                </a:solidFill>
                <a:latin typeface="Arial"/>
                <a:ea typeface="Arial"/>
                <a:cs typeface="Arial"/>
              </a:rPr>
              <a:t>Cotizador de</a:t>
            </a:r>
          </a:p>
          <a:p xmlns:a="http://schemas.openxmlformats.org/drawingml/2006/main">
            <a:pPr algn="l">
              <a:defRPr sz="3000" b="1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607C"/>
                </a:solidFill>
                <a:latin typeface="Arial"/>
                <a:ea typeface="Arial"/>
                <a:cs typeface="Arial"/>
              </a:rPr>
              <a:t>Envíos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24A"/>
                </a:solidFill>
                <a:latin typeface="Arial"/>
                <a:ea typeface="Arial"/>
                <a:cs typeface="Arial"/>
              </a:rPr>
              <a:t>Embalaje, resumen y distribución propuesta</a:t>
            </a:r>
          </a:p>
          <a:p xmlns:a="http://schemas.openxmlformats.org/drawingml/2006/main">
            <a:pPr algn="l">
              <a:defRPr sz="1275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324A"/>
                </a:solidFill>
                <a:latin typeface="Arial"/>
                <a:ea typeface="Arial"/>
                <a:cs typeface="Arial"/>
              </a:rPr>
              <a:t>Guía técnica y operativa · Septiembre 2026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b7b1aebbf4f65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698E71-F4E7-4329-8E18-31B945A6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01 · PROPÓSITO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9AAB7-00F0-470B-B37D-672B2147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Del pedido de Odoo a una cotización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566DB-D153-4AFA-98CB-C83042AF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El módulo convierte una orden en un conjunto realista de bultos para consultar a FedEx.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98C8B-EAFD-4C0C-9755-3E8E08C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FCA92-0B5E-4A13-9A51-66B73124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B4137-FECD-4BC2-B258-8E57F945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1788C-A029-4F86-B889-D98B030A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90775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Orden Odoo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7A518-093E-4FA7-BCE9-EE1F9AB8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Cliente, líneas, cantidades y destino.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21D71-33E2-4480-85C7-74B9CA34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33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F4988-79B0-4A49-901F-9D5630F6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FA565-62BA-450A-9C89-7CF9ACD5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CDB20-C6B2-460D-9D17-0775FB50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90775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Datos físicos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FA9DB-8D44-4132-9579-545ADEE5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SKU, peso y dimensiones por producto.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DC1EB-8F9A-4265-89CF-8F51B6C5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FE33C-EE3A-4C8F-B436-947BF6FC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7216D-AE79-4B4D-99B6-0D69AC1C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FE646-54B0-425E-B5F9-800A5A9E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90775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Distribución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9315F-F668-4727-85CF-577B20F6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El motor propone cajas y asignaciones.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0235A-BB52-4FCD-A3A5-40931441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32A5E-48F5-43F0-AB42-3F5A2962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52625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6ED00-38BB-4437-B46C-7D0B0330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79328-7115-4B62-A9B9-8786CA6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90775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FedEx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FCD2B-5245-4CAE-84F0-44E29C9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432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Se envía un paquete por bulto a Rates API.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6FBC1-3987-45D8-9BEB-FC91017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96E61-7351-41DE-BBBE-70C727C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315FE-7725-4352-87DC-12ABC242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Solo lectura en Odoo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F66A9-01CE-4A83-8862-DD14D93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integración consulta órdenes, contactos y productos; no modifica datos en Odoo.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6E068-76DB-44B9-8261-F53E588E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0D26CB-2893-43B0-9CBD-A4BCC50F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B4D"/>
          </a:solidFill>
          <a:ln xmlns:a="http://schemas.openxmlformats.org/drawingml/2006/main" w="0">
            <a:solidFill>
              <a:srgbClr val="C47B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6F9D6-4E9B-4C78-B15C-E4018E7B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Sin dimensiones inventadas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33F13-10BA-4CEF-9778-9124647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57675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Si falta peso o medida, el usuario completa el dato en Paquetes y resumen antes de cotizar.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EAC6C-4B02-4BBF-9EC7-4AA6014E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DA627-EFD3-4E42-B50F-91266DBA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E66"/>
          </a:solidFill>
          <a:ln xmlns:a="http://schemas.openxmlformats.org/drawingml/2006/main" w="0">
            <a:solidFill>
              <a:srgbClr val="6B8E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4C8653-00C2-4984-9B0D-9ADB6E6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Menos paquetes por defecto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197D29-7D25-4767-8A9C-D65B735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estrategia inicial es MIN_PACKAGES: buscar la menor cantidad de bultos válidos.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1C16D2-7FD7-400B-A55E-3846615C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32849A-483C-4F5C-BC4D-DB303B8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C7BABC-BEBC-4E85-89C8-DC850E5B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22767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6BA7E9-1C0C-47F1-A614-E07EDD44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02 · 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689E0-DB8C-4E3A-AC93-4459C41A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Cinco piezas que trabajan como un solo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C8AA0-FAC3-4148-A356-A0EB2869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interfaz orquesta servicios especializados; cada etapa deja datos verificables para la siguiente.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E94F9-652B-4DF5-BC81-C9C79B6B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8BE3E-B1D7-4C1F-BEA2-D5B6A295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8C2DC-B68F-477D-81EB-9CA7CE64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7C"/>
          </a:solidFill>
          <a:ln xmlns:a="http://schemas.openxmlformats.org/drawingml/2006/main" w="0">
            <a:solidFill>
              <a:srgbClr val="2D607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9EED9-CAFD-4098-AC13-6C36F18A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OdooService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5EB91-404C-4321-AA30-A4225C5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Orden, contacto, dirección de entrega, SKU y líneas.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src/features/shipping/shippingQuotesService.ts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E3000-0148-4E77-A955-C84B642D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AA442-84FA-4BBC-BF0B-4201CCA9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253C7-32F1-4CDB-8452-942873CF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Producto físico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E7130-B7B3-48D2-B039-E84CFA54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Dimensiones, peso, rotación y reglas guardadas en Supabase.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shipping_product_dimensions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49CC0-947C-4E97-B3CD-2C22F30D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BEFCF-7418-4B4F-8480-24242870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B4D"/>
          </a:solidFill>
          <a:ln xmlns:a="http://schemas.openxmlformats.org/drawingml/2006/main" w="0">
            <a:solidFill>
              <a:srgbClr val="C47B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2EDC6-D80C-49E0-B661-E4AFF4EE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Packing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EEF43-B40E-4C7D-A41C-153D447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Normaliza unidades, prueba rotaciones y arma bultos.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supabase/functions/_shared/shipping-packing.ts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A66E0-3DE8-4850-8A4A-DCC8A062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5A2C7-A745-456C-B117-1D75F3A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E66"/>
          </a:solidFill>
          <a:ln xmlns:a="http://schemas.openxmlformats.org/drawingml/2006/main" w="0">
            <a:solidFill>
              <a:srgbClr val="6B8E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C3A21-DF33-4AD7-BD5C-1E05BBB1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FedExService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F9559-B15E-4C6D-B9AC-A2636CDB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Convierte cada paquete a requestedPackageLineItems.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supabase/functions/shipping-quote/index.ts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6B375-520A-4302-B0CC-0E3B519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57600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ECDE2-64AF-4A15-9FA7-2721CECD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576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84B"/>
          </a:solidFill>
          <a:ln xmlns:a="http://schemas.openxmlformats.org/drawingml/2006/main" w="0">
            <a:solidFill>
              <a:srgbClr val="D1A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5D0BC-AF66-4649-B4A3-71937598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Historial y auditoría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37207-6AF0-4965-9EF5-F8F8649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24325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Guarda cotización, bultos, tarifas y configuración.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shipping_quotes · shipping_quote_packages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4787E-F486-44CF-9902-8B270A7C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4802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18BBD-EFCC-4523-8F82-9C0B58AC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4802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E124FF-DDAF-4C22-AA9C-D150EED0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4802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4AC48-EB54-411B-B443-18281FB3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Resultado: un request de tarifas basado en paquetes físicos, no en una lista genérica de productos.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5E4A3-A56C-4742-AA54-948F5AC8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5FC5E-DED1-49FE-BCE9-22577374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0B67F-800E-4D67-BD7C-AA8B37D4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66736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6FB12-8CA6-42F6-A264-D5E6170F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03 ·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F335E-D08E-4C0C-8C23-960DE1C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Qué se toma de cada fuente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B3CCA-9C98-4FBB-AF8E-7F7B116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coincidencia principal entre Odoo y la base física es el código interno o SKU.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A6DDA-A177-4075-A340-B34BCF6B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2667000"/>
                <a:gridCol w="6191250"/>
              </a:tblGrid>
              <a:tr h="5778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Dato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Fuente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Uso en el cotizador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Orden, cliente y líneas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Odoo · lectura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Identificar pedido, cantidades y productos vendibles.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Código interno / SKU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Odoo + Supabase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Vincular producto con dimensiones y peso conocidos.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Peso y dimensiones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Producto físico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Construir unidades y validar si caben en la caja.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CP y dirección de entrega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Contacto Odoo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Definir destino FedEx; fallback al contacto general si falta.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Credenciales y origen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shipping_carrier_settings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Autenticar backend y completar el request sin exponer secretos.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651BA-C264-4199-980A-26147417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E9E0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B7434-980A-4625-A907-FD6CFA16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Fallback controlado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CDE71-F79A-4D81-94BF-C2736FC3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007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Si el SKU no coincide o faltan datos físicos, el producto no se inventa: queda visible para completar manualmente.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9ED8D-1325-4A2A-A0B3-B64BECDF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4B21F-8226-4EC1-899B-867A3CEA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3D709-71D3-45AB-B36B-F5898DA9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21566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69D1E5-C7BF-455C-BA1B-528FF191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04 · EMBALAJE Y RESUMEN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7B430-4663-4539-A2D7-8A93460E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La vista que traduce datos físicos en una decisión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AFEF7-2C4A-413E-A576-9E17B17E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Antes de consultar FedEx, el usuario puede comprobar qué se va a enviar y por qué.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BC5B8-2136-44BE-812B-FCC423E2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91FEB-8FDD-426C-95A0-DF9B3890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41433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F97D5-A643-4669-B585-1FC31759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RESUMEN DEL ENVÍO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8A7AF-405E-4F1D-85AB-3BF4E5B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Artículos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5E729-558A-4659-A885-88786781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526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FC923-6F5D-4656-9678-02CCC6D6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D8569-3061-464A-A933-E9D5EC0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Paquetes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89025-605C-4B08-9C61-3157D256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908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E9C39-4048-4F2C-A648-A328D08D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033F4-1BBD-450B-8E31-B6CC646A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Peso bruto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D7941-65C9-46CD-8F8E-45C784B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289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28.400 kg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ABF6A-E57C-4C56-A785-E678DA02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819A1-0AA5-4AA4-81D4-AD5977F7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Peso volumétrico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F80C2-582B-495B-8E35-02EB16EC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67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31.250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559FE-ADA5-4D20-81A4-393C034E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06475-040F-4173-9B03-696524F3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Peso facturable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AB313-5518-449B-8AF5-1268ACE5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05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31.250 kg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253ED-C163-47E3-B93C-EC144553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64FD6-25BB-43C5-8A36-3CFC3DF2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Utilización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3DF14-1F9B-41BE-B683-B73153D1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434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86%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D813A-DEC2-491F-B84A-27740045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AAFE6-64C3-42FA-BA5E-2AD59A4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65341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F4331-E2E2-48C7-A895-0A1053BD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Tres bultos listos para cotizar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1761D-1158-41DF-B164-98A3A83D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574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7FA4A6"/>
          </a:solidFill>
          <a:ln xmlns:a="http://schemas.openxmlformats.org/drawingml/2006/main" w="0">
            <a:solidFill>
              <a:srgbClr val="7FA4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FE748-6652-49B7-A157-37494FA9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00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Bulto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725B5-6F92-4B00-AAD8-358BFA34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527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70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D423D9-48B5-4E0D-88B4-60F3677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671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40 × 30 × 25 cm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D994E-D864-47BC-A228-E9A77CB1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05275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8.4 kg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72133-4D26-4E0A-9953-42755EAA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574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E9E0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4F98B-BB9E-4D88-83F4-68796497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00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Bulto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7E4C5-59EA-486D-A557-FD43533E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527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70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BF4E27-2696-4524-9CFC-77805EC4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50 × 40 × 30 cm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CC6F26-E860-4D13-9A7B-7337CFE6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12.6 kg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E7E902-08B1-4D53-B5BB-59CAF2F1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574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8EA"/>
          </a:solidFill>
          <a:ln xmlns:a="http://schemas.openxmlformats.org/drawingml/2006/main" w="0">
            <a:solidFill>
              <a:srgbClr val="DCE8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CFC563-10DF-44FA-9D40-50814AA4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Bulto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46E49F-DA60-4469-AD06-FCD137E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527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70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E09762-78B0-47CC-9B28-4748901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67150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35 × 25 × 20 cm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43F163-EF40-46BC-BC57-692DEF37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105275"/>
            <a:ext cx="144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10.7 kg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86A110-EE69-46EC-97CF-A360D6F9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910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El resumen conserva peso real, peso volumétrico, peso facturable, tara, cantidad de bultos y utilización para que la decisión sea auditable.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A5DBF-E9D4-4B37-8E9A-BE28EC50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5BF787-4D7B-4A4D-948D-7BE852E5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8714B1-1C0E-407C-910A-DFDB4DB7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21118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FCF3C4-FDE7-498D-87AD-7DD1060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05 · DISTRIBUCIÓN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65311-CFD4-48BD-8AE2-DE0D356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El usuario revisa y ajusta el plan antes de enviarlo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89637-3B02-4D9E-B301-2257F29F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propuesta no es una caja negra: cada unidad puede moverse, separarse o documentarse.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A8C1A-8769-4C6A-9F31-16A7D48D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0CB06-0CC4-414E-A829-2774AC91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314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E9E0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3E009-A2CF-4302-A77A-29F1433E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Estrategia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950AF-D4D4-4ECD-B24C-F4144371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52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Menos paquetes · MIN_PACKAGES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63341-EC37-4473-9610-5E19EC82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Objetivo: agrupar tanto como sea válido, sin superar límites físicos o de peso.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E125A-BB32-47BB-A695-B34853BB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B41E8-7D0B-4439-BD04-388B6A48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Líneas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E147A-4EE8-4DA0-A33E-B69D5726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SKU + cantidad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F38A5-5137-4789-89AA-8C474C0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C88EE-2BA7-4F11-A465-9C20CE40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526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7D077-0D91-45B9-9A0D-E5913101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Unidades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5EAFC-59FD-4D22-908B-3359608F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479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cada pieza física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19C1D-0CDD-41EB-B3B5-EEC0600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B5BF8-2F57-4D07-88ED-84F21ADB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526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DDCE4-32B3-46FC-BD58-477438DF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Candidatos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CFF98-2971-4470-B308-D644CA4A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479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cajas disponibles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3AF80-FBB5-4272-864D-6C1EF186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146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AB03A-F67F-47AC-A9C8-A2DEAA56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526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14C28-7D80-4FD9-9B8B-CB209E34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46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Asignaciones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1E5B4-BB12-4A96-A7E5-37FFAE1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479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unidad → bulto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730FC-17B1-4FAA-A684-730A8BB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146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26DBCC-D777-4C69-8C41-3E66BCE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5267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1B1E9-CB50-4657-845A-4894453D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1460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4F305-79FC-4939-BB04-562CA1F1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479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listo para FedEx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A56CC-FDA1-451E-BAB9-2A7BB079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8152F7-FB33-45B4-804F-E98FB1FF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7ADA9-05B3-42EE-9EC8-549BADB4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Cambiar estrategia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04DB7-2432-48CF-B8DE-E91FAEEF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Equilibrado, Menos paquetes, Compacto o Conservador. La selección vuelve a generar el plan.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EF00D1-C2E5-4249-9467-6918EB76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2427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5D1053-2168-4FA3-9D2C-22217B1B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242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B4D"/>
          </a:solidFill>
          <a:ln xmlns:a="http://schemas.openxmlformats.org/drawingml/2006/main" w="0">
            <a:solidFill>
              <a:srgbClr val="C47B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28A07F-E3BD-4E15-9BEB-A40B2E4F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Mover unidades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AF632-93B7-4D57-8D2B-534AE7B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91000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Mover a otra caja, crear una nueva o separar una unidad con dimensiones propias.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D8637E-0E3C-426C-BEEF-E151A73D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3333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38C210-0060-4A55-AABE-16CF214D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E66"/>
          </a:solidFill>
          <a:ln xmlns:a="http://schemas.openxmlformats.org/drawingml/2006/main" w="0">
            <a:solidFill>
              <a:srgbClr val="6B8E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E7CB5F-F8ED-4405-9509-5394379D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576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Explicar la decisión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B3E656-BD9C-40D2-AC23-73072C9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2990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vista permite inspeccionar por qué se eligió cada distribución y qué queda pendiente.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2895CE-8F70-4A97-8BE9-5BD6315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3BD186-2F5E-4B12-8310-E8FC41A7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126C08-7E6D-4228-8052-083D893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29402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3AC670-881F-4514-880F-6D23CC2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06 · MOTOR DE EMBALAJE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14301-3C2F-4864-8266-711E9CF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Cómo decide si una unidad cabe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00085-E994-4895-BE7F-24C1CE51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El motor prueba restricciones físicas y de negocio antes de aceptar una asignación.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98504-E4D4-4296-B905-5648E336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F5D9A-44F8-49AD-A400-FB8136D9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70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12A23-9C62-4DEE-A907-C2767F0E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Normalizar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BDE3B-6095-4AF0-8EF3-98A27C8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cm · kg · cantidad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DBD30-964A-4F13-9F04-8AD08B15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5272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B5A4F-EAEA-4B01-B016-1FD48034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70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3B7CE-0334-45BF-81C2-CB8419F7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431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Ordenar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E373D-6E5E-46BA-8013-78BF0B1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1465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peso · volumen · reglas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DDE64-154A-4990-B261-323107BB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5272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23E94-0415-4298-9A25-C7844CF3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717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70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D73ED-A02D-41BA-B423-9FE1EBC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431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Rotar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9E102-4ECC-40CF-8F11-1E640913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1465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orientaciones válidas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4302F-0C79-4CDF-A977-D281A62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5272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02F13-2901-47BF-98DE-0D12809E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70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76E88-9CE5-4D8E-8EF9-1A9E8B38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431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Colocar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E204A-41D6-4C4C-9073-5075C81C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espacio libre + soporte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D8F58-AED5-49FB-A144-582D74AA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5272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9369C-15EA-4AC8-93BE-D037924C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19050">
            <a:solidFill>
              <a:srgbClr val="C47B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D844C-A827-4B27-8C1E-D5070D6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431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4C0AC-5C79-45DF-B08C-FA53858E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115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peso · límites · vacíos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9354B-5F7A-42E1-A665-FDF8B877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3105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B1E6A-BB64-41FC-9988-0DD9A364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08FF6-D4F5-4762-99D4-CDE36509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Rotable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36A1B-5584-4EB5-870E-1E0F8F5C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Por defecto puede probar orientaciones; la línea puede bloquear rotación cuando el producto lo requiera.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CA907-C72E-4AF0-A55C-7AAED64E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19575"/>
            <a:ext cx="3105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5AD5C-3E96-4AE1-8F9D-E38AD9E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19575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B4D"/>
          </a:solidFill>
          <a:ln xmlns:a="http://schemas.openxmlformats.org/drawingml/2006/main" w="0">
            <a:solidFill>
              <a:srgbClr val="C47B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E8FAE2-64C3-46F9-BE95-155C985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529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Peso límite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132E2-7236-4B77-B252-C0802D5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6863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caja no se acepta si el peso total supera su máximo configurado.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DC7B16-CC2D-4EA9-BA40-11F2DE0C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9575"/>
            <a:ext cx="3105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5B8D88-2FC2-4A7C-8FB4-A473253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9575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5C"/>
          </a:solidFill>
          <a:ln xmlns:a="http://schemas.openxmlformats.org/drawingml/2006/main" w="0">
            <a:solidFill>
              <a:srgbClr val="B85C5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E83A73-5E18-4279-BAC8-503CBD53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529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Pendientes visibles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8459F4-4BFA-4144-8CEE-FA16F9E1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Unidades sin asignar o datos incompletos se reportan; no desaparecen silenciosamente.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919352-1807-4F11-88A7-7D47115C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La optimización no busca solo volumen: valida simultáneamente dimensiones, peso y reglas de combinación.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EC6797-FB21-4E9A-B81E-A9FED496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AB6D82-3D3D-40F5-BDDC-8E8D4A76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8C5F6B-4364-4DE3-9355-CDFCDF7A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57623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3DE70-A478-4611-AC35-46E2030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07 · CÁLCULO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0132B-4053-4F96-81E1-3D554369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Peso volumétrico vs. peso facturable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3DE48-EE2F-42F2-BF22-2E1476D9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FedEx cotiza el mayor entre el peso real y el peso volumétrico del bulto.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03D00-40D1-4193-9E7B-A312E108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618A6-DD6B-4EF5-9B19-A1136D3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Peso volumétrico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9124E-F471-4DE7-B059-DB8214C6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Largo × Ancho × Alto ÷ 5000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DCA09-94FC-4BE7-97FD-18693BA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implementación convierte unidades, redondea el cálculo a tres decimales y aplica la tara según el modo configurado.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80291-65EE-41F1-ACEA-2A5369C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907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Ejemplo ilustrativo · kg por bulto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B539E-A670-486E-B982-7A7D37A9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00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9201C-36B1-4DB0-BFF9-0930E1BA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48031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44848-61D3-4704-9D2E-5B11A333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85" y="24003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8.4 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F4DF2-BFF7-41A3-BCE6-91A9BD64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432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Volumétrico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357C0-7B5B-47D7-9AA1-A1DC322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62300"/>
            <a:ext cx="372046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C47B4D"/>
          </a:solidFill>
          <a:ln xmlns:a="http://schemas.openxmlformats.org/drawingml/2006/main" w="0">
            <a:solidFill>
              <a:srgbClr val="C47B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02A53-B0AB-4B1B-A2DB-1912383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1432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12.6 kg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1CCA5-FDB2-4009-B103-9B1A702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862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Facturable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04A66-D183-4701-BE05-66B06BB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372046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D607C"/>
          </a:solidFill>
          <a:ln xmlns:a="http://schemas.openxmlformats.org/drawingml/2006/main" w="0">
            <a:solidFill>
              <a:srgbClr val="2D607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DCEDD-30A5-43D6-B71E-45F5243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40" y="38862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12.6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F98C4-6DDF-480B-9234-3CB5D141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4C180-21A4-4E00-B940-5BAAF681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91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Mayor valor = peso que se factura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7CAB8-05D9-4722-B532-9DEC557F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37623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E1820-0707-4EBC-8774-E86C5943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Regla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4156E-9DC7-4AA6-A867-03D6AC1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3276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Peso facturable = max(peso real, peso volumétrico)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A1171-46C1-4B8F-A03E-8B62BDA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2863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Ejemplo ilustrativo, no corresponde a una orden real.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8EF7F-CDC8-449E-BF3A-94C492C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50AB9-D988-4A40-83D0-630C855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04890-A6B6-4916-AFD5-4BD595E8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95229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E4ED7-C69D-466D-8E59-F5D91793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08 · CONTROL DE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4A063-B074-4A02-BB85-0A475A94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No se cotiza hasta que el envío sea coherente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8250F-E17B-45BC-94DA-EA685FD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Los estados hacen visible si falta información o si una distribución necesita corrección.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F3BB5-7957-4C28-9ADA-7134F69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914525"/>
          <a:ext xmlns:a="http://schemas.openxmlformats.org/drawingml/2006/main" cx="11125200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3695700"/>
              </a:tblGrid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significa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Acción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PENDING_DATA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Faltan dimensiones, peso, destino o configuración.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Completar datos en el flujo.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PARTIALLY_PACKED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Hay unidades sin bulto asignado.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Mover o separar unidades.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INVALID_PACKING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Peso, dimensiones, caja vacía o duplicidad inválida.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Corregir distribución.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READY_FOR_QUOTE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Paquetes válidos y resumen listo.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Enviar request a FedEx.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720DC-3F40-4BF0-9E6A-10EC282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E9E0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14418-943E-4BE7-94DF-FBD5F01C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Regla de seguridad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B19A7-9FC2-4744-B197-F613896B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95900"/>
            <a:ext cx="885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Los errores se muestran en la interfaz; una unidad pendiente no se oculta ni se convierte en una dimensión inventada.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B68F7-5872-488F-BC79-FE4534A1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CF508-8C1B-419E-ABBE-C1428E5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619A9-7D85-45E8-AE31-CD63856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32058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2A04D4-94B9-44EF-B7A5-9121BF76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09 · FEDEX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CC677-6E09-4506-ABFE-4D71F66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Un request por cada paquete físico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DDB0C-D86A-4B6A-A2D4-2A242CD1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integración conserva el detalle necesario para que el resultado sea comparable y trazable.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B626B-24CE-49C7-A50F-C9F8BD47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6C9F2-1046-4D0B-BA85-66EA934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5433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AEF9A-B32C-44A7-8537-76FFEE6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9367F-4F6F-4E43-A7EF-BDD29F9C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36726-D712-41E8-A0F3-B94303E6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Origen y destino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0A050-4808-48BC-96FB-9F864676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94E03-90DB-42D6-B30C-A81B9167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Servicio y pickup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2FC68-E0B6-48F2-816F-0FA91053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AB097-3A7D-42C6-81FB-7E90B583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TotalPackageCount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D5EE3-EE7B-4555-8141-23CA4CEC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5FBE4-340C-4049-9670-D7EF88A1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requestedPackageLineItems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FCA4B-6291-49AC-9A14-381A89FF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A9C0F-B4B5-4FAA-88DD-4418CB7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Peso redondeado a 3 decimales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D5DBF-AFF9-4A91-8361-B192A96D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98ED7-863E-407F-839F-18F5A541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Dimensiones enteras en 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09AA1-67DC-49F1-87F6-F3EB79A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85950"/>
            <a:ext cx="3238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53F43-4139-406F-8997-20093FF2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PAQUETES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34E3B-D5D5-4785-BA61-FAD275C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2686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C0323-8F0F-4771-9C46-2860B0B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Bulto 1 · 8.4 kg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3E70F-4422-4A79-ACCF-E3D00BE7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686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0626F-1A34-4220-B850-64E8BE33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Bulto 2 · 12.6 kg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A39C3-650A-4857-813C-6E9E38C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2686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9A2D6-6E70-4F2E-82C0-14548CB2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8620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Bulto 3 · 10.7 kg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05B92-85B7-41F6-9E19-24FA075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0861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00A93-C01D-4FE3-B628-39B178A6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E79F8-31F6-48E1-88FE-700E215B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Servicios FedEx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Costo · moneda · tránsito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Se guarda el resultado para historial y comparación.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56BE3-C55C-4259-9BAB-DC7C88AB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E9E0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79805D-2490-4031-B42A-CF45678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CB742A-FA4D-4960-9A29-1B2E52D8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721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OAuth, client secret y credenciales viven en backend/Edge Function; nunca se exponen al navegador.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294C04-8A5A-423D-AA08-35FB17B0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E0B7B3-D404-4102-AEF6-A0AC7280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67429-2230-4BAC-9F77-FA3FF5FB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27715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929D9-D64E-4FDA-AE05-991A9C57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10 · PERSISTENCIA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6597E-B3FA-4791-AD5B-AB43C476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Cada cotización deja un rastro útil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F5170-9458-4073-A216-D6D5A124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Supabase conserva configuración, snapshot de bultos, tarifas y auditoría para repetir o investigar el resultado.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7E237-15F5-4B74-AC3D-DB7FD39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533400" y="1828800"/>
          <a:ext xmlns:a="http://schemas.openxmlformats.org/drawingml/2006/main" cx="6477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8100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91440" marR="91440" marT="45720" marB="45720" anchor="ctr">
                    <a:solidFill>
                      <a:srgbClr val="2D607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shipping_carrier_settings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Credenciales cifradas, ambiente y origen FedEx.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shipping_product_dimensions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SKU, peso, dimensiones y reglas físicas del producto.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shipping_quotes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Orden, usuario, request/response, resumen y estado.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shipping_quote_packages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Snapshot de cada bulto enviado a FedEx.</a:t>
                      </a:r>
                    </a:p>
                  </a:txBody>
                  <a:tcPr marL="91440" marR="91440" marT="45720" marB="45720" anchor="ctr">
                    <a:solidFill>
                      <a:srgbClr val="F3EE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shipping_quote_rates /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>
                          <a:solidFill>
                            <a:srgbClr val="17324A"/>
                          </a:solidFill>
                          <a:latin typeface="Arial"/>
                          <a:ea typeface="Arial"/>
                          <a:cs typeface="Arial"/>
                        </a:rPr>
                        <a:t>Tarifas devueltas y cambios de configuración.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09E8A-2CA7-4940-9279-AA8390F0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C931C-C9E9-463A-AF77-D4BB4886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Cadena de trazabilidad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65B81-F2E9-47FF-890E-E034935F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C3554-A555-4719-B695-0DA51C2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765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26412-347C-45FA-B2F9-E158B39D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95C6E-D874-4303-867F-D98A8AF9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C0A8C-5D5F-423B-AC82-4D96EE89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Orden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30CC4-1713-4587-9599-E8AF5A9F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256E7-D574-4B1C-B4E7-EAAEA4AF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209E9-3B32-4BB9-AE16-526099E3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Bultos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CDD90-A6AC-4228-A724-30DBEA1B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AAB4D-811C-4A87-88F1-7D4D9048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523B2-469C-42C7-8ABB-FCC7E44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95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Tarifas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7F600-C070-480A-B72E-9D563A76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95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EF3FC-FB3F-4611-A366-9CB2F50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34BF8-89AF-4412-88B0-5F7B850F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005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Historial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9AE80-DE4E-4007-9D90-97096AC5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38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Esto permite explicar qué se cotizó, con qué datos y con qué respuesta del proveedor.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08403-96CF-4783-A5AA-A09824C7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C7F34-3F92-491E-8623-BB0EA97F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538D3-3518-4693-ABB4-A5EB0A52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65351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EBA92C-65CF-4A6A-ADC9-61E7FDC7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11 ·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FC04D-C48F-406C-B075-4BDAA5ED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La secuencia recomendada para el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76134-590E-4BF6-940C-42DB4E62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El objetivo es llegar a FedEx con un resumen entendido y editable.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D6030-EDD0-431F-BF71-95422476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E6BD5-FFA9-4AC8-8D3A-402053B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7A7E9-3F0F-42E6-BC83-81E9DF8E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DF582-6BAB-4007-871C-43472ECE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49C0B-B992-4F2B-90EC-ED7D3714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383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Buscar orden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1B99D-3802-4440-B8E9-BFBC196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431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Número de orden Odoo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22B11-8783-4878-BA54-235EF194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BF6E8-5840-442B-84BD-9D752814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478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3FF96-39FF-4AE6-878D-42650E4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50B56-85BE-4D64-BECA-A5DD72A9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669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C6499-8431-4235-9052-AFE7CBA7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383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Verificar destino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F1614-5BE7-4B70-B709-E62A6AC8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431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CP de dirección de entrega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6A0A9-79F1-441D-A4FC-F5189F98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E24B3-54AF-47B6-AD41-7DA6FEE9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74278-23A5-48F9-B542-309AE73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5B510-8294-4873-903E-B11C7313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669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08855-2AF5-45C2-96C2-9077F11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Completar físicos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85213-457A-4850-842E-E9D0BBB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Dimensiones y peso faltantes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4312B-1A12-4B6C-B2A2-70CDEC01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76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5B9E2-ED25-46D9-ABC4-12291A09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478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C604B1-379F-4529-A159-F48ED588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150C8-36E0-4BE9-94E9-A396194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669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D5C95-CB0C-434D-BC2F-F7B60DA5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383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Revisar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04BD9-6434-43D0-8DC1-C9136C2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431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Embalaje y resumen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1B2D09-7E5A-4C4D-886C-8B7A726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AC500-C03C-4832-82DB-7618A54E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A98E1-5A10-4C51-87AB-AAA25283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7A800-1209-4F4F-81A2-EAD8261A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6576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A1760-9D03-47D9-95A6-9FA931B2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9624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Estrategia o distribución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B5BB3-8500-410A-9A27-A984ABB4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957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BF4C64-3DC5-4B69-B44A-E6D7040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133321-66FD-4FE4-84FF-EC29083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57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0E845D-001E-4F8F-89A1-4EB8B8FB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861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D6CCF1-1D00-4A83-AFA1-708ECDAE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576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Cotizar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7B7CC5-2A7E-4F49-8250-B873C3ED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9624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Enviar a FedEx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8CF133-F940-4EBC-A0D0-133E0C3B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9572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2E1C42-B4DB-417D-81ED-FE1DFE5B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24C5B1-9EF5-41B8-9C21-EDB8363A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28CDF8-BAB9-4F1B-B58C-3CF0A67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861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A8D97A-68A4-4D5D-AE2A-A50F99F7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576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Comparar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5E53EF-7783-4FDD-834D-001B4B65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624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Servicios e historial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FE271D-CE24-45F3-AFA4-2D7B100C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C96DD0-BFA8-4125-B81A-88B205E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Punto de decisión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F95C17-D81E-466A-9617-6B3A80DE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91150"/>
            <a:ext cx="866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Si los datos físicos no están completos, el flujo se detiene en el paso 3; si el plan es READY_FOR_QUOTE, continúa al paso 6.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9FE92B-4DB0-41CA-B9EA-80DC4B0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095194-B17C-42BE-B34E-966BADF0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51E8E8-FD3B-406A-986A-8B286FDC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10352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5F239-B03F-4E72-90BA-B534F58E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47B4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47B4D"/>
                </a:solidFill>
                <a:latin typeface="Arial"/>
                <a:ea typeface="Arial"/>
                <a:cs typeface="Arial"/>
              </a:rPr>
              <a:t>12 ·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3D218-C698-4947-9F01-4B532BBF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Qué debe quedar claro antes de confirmar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EAC8A-F120-41E0-BD33-3C500A5B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57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mejor cotización empieza por un paquete bien definido.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ACB0B-0CA6-42D8-8F5F-D5F689A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40F72-AC01-46F2-9EB3-C004E88A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B75B8-9A27-4669-8B4E-2CBA09A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07A"/>
          </a:solidFill>
          <a:ln xmlns:a="http://schemas.openxmlformats.org/drawingml/2006/main" w="0">
            <a:solidFill>
              <a:srgbClr val="3E70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B1547-FCCC-462C-B6E2-7E82244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0725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1 · Datos confiables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47CB7-19EE-4BCD-B542-70305DD4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Orden, destino, SKU, peso y dimensiones corresponden a la mercancía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9E98B-564C-465E-BCB5-AF1D8BFB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CC944-5344-47E5-9728-D123746E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B4D"/>
          </a:solidFill>
          <a:ln xmlns:a="http://schemas.openxmlformats.org/drawingml/2006/main" w="0">
            <a:solidFill>
              <a:srgbClr val="C47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E16C6-D1ED-4C75-B82F-8E652E11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2 · Distribución explicable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A5193-9FF7-47AD-A3BC-671468A0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La propuesta usa el menor número de paquetes posible sin romper las restricciones.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5F52D-D0C5-49AF-B08E-8CFE5CB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9575"/>
            <a:ext cx="4953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A70D6-F2B8-4D48-A7DD-46397115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95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E66"/>
          </a:solidFill>
          <a:ln xmlns:a="http://schemas.openxmlformats.org/drawingml/2006/main" w="0">
            <a:solidFill>
              <a:srgbClr val="6B8E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3B67C-11FD-462A-8F38-699E95D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3 · Comparación útil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205E1-58C7-44AD-AD86-9207638C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Los servicios FedEx se comparan con el mismo conjunto de bultos y condiciones.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A1D98-0CAC-4E0F-9E27-D4701BB4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57375"/>
            <a:ext cx="52959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3EEE6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8E8C1-65D0-4DC5-996D-ECB29FC1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La idea central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9C1D4-FBAF-44BB-B2A4-5ED01541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438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Embalaje y resumen no son una pantalla intermedia: son el control que conecta la orden de Odoo con el request de FedEx.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BB08E-B188-4975-8E39-7A2B75AE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Si falta un dato, se completa. Si una unidad no cabe, se corrige. Si una tarifa cambia, queda registrada con su contexto.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FC34C-EDBF-43EB-A289-2B6C257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1000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607C"/>
          </a:solidFill>
          <a:ln xmlns:a="http://schemas.openxmlformats.org/drawingml/2006/main" w="0">
            <a:solidFill>
              <a:srgbClr val="2D60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63E86-1D1A-4B9D-9C50-5FE682CA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81550"/>
            <a:ext cx="80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381E4-CAF3-4B54-A03A-66EF71EA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Cotizaciones más rápidas de revisar, comparar y defender.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5AC13-CB1C-48D8-98F2-024F7D7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0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BAB1F-E04D-4A49-BBFD-617EC21E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B788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B7880"/>
                </a:solidFill>
                <a:latin typeface="Arial"/>
                <a:ea typeface="Arial"/>
                <a:cs typeface="Arial"/>
              </a:rPr>
              <a:t>Cotizador de Envíos · Tectronic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07682-B368-4E06-9FA8-97968ED2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D60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D60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85521803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2026-09-18T15:55:13.4580000Z</dcterms:created>
  <dcterms:modified xsi:type="dcterms:W3CDTF">2026-09-18T15:55:13.4580000Z</dcterms:modified>
</coreProperties>
</file>